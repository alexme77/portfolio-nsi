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96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</p:sldMasterIdLst>
  <p:notesMasterIdLst>
    <p:notesMasterId r:id="rId27"/>
  </p:notes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9" r:id="rId15"/>
    <p:sldId id="296" r:id="rId16"/>
    <p:sldId id="300" r:id="rId17"/>
    <p:sldId id="297" r:id="rId18"/>
    <p:sldId id="298" r:id="rId19"/>
    <p:sldId id="301" r:id="rId20"/>
    <p:sldId id="304" r:id="rId21"/>
    <p:sldId id="305" r:id="rId22"/>
    <p:sldId id="306" r:id="rId23"/>
    <p:sldId id="307" r:id="rId24"/>
    <p:sldId id="308" r:id="rId25"/>
    <p:sldId id="309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670D"/>
    <a:srgbClr val="835A07"/>
    <a:srgbClr val="C7880B"/>
    <a:srgbClr val="F9D6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.maiemery" userId="1f11653a-c8a4-46ff-9b76-cd06afc4df71" providerId="ADAL" clId="{FE012250-5090-4A75-A2FD-50F9A923C983}"/>
    <pc:docChg chg="modSld">
      <pc:chgData name="alexandre.maiemery" userId="1f11653a-c8a4-46ff-9b76-cd06afc4df71" providerId="ADAL" clId="{FE012250-5090-4A75-A2FD-50F9A923C983}" dt="2025-11-26T11:05:53.063" v="2" actId="1036"/>
      <pc:docMkLst>
        <pc:docMk/>
      </pc:docMkLst>
      <pc:sldChg chg="modSp mod">
        <pc:chgData name="alexandre.maiemery" userId="1f11653a-c8a4-46ff-9b76-cd06afc4df71" providerId="ADAL" clId="{FE012250-5090-4A75-A2FD-50F9A923C983}" dt="2025-11-26T10:36:48.238" v="0" actId="1036"/>
        <pc:sldMkLst>
          <pc:docMk/>
          <pc:sldMk cId="3008653747" sldId="256"/>
        </pc:sldMkLst>
        <pc:spChg chg="mod">
          <ac:chgData name="alexandre.maiemery" userId="1f11653a-c8a4-46ff-9b76-cd06afc4df71" providerId="ADAL" clId="{FE012250-5090-4A75-A2FD-50F9A923C983}" dt="2025-11-26T10:36:48.238" v="0" actId="1036"/>
          <ac:spMkLst>
            <pc:docMk/>
            <pc:sldMk cId="3008653747" sldId="256"/>
            <ac:spMk id="2" creationId="{00000000-0000-0000-0000-000000000000}"/>
          </ac:spMkLst>
        </pc:spChg>
      </pc:sldChg>
      <pc:sldChg chg="modSp mod">
        <pc:chgData name="alexandre.maiemery" userId="1f11653a-c8a4-46ff-9b76-cd06afc4df71" providerId="ADAL" clId="{FE012250-5090-4A75-A2FD-50F9A923C983}" dt="2025-11-26T11:05:53.063" v="2" actId="1036"/>
        <pc:sldMkLst>
          <pc:docMk/>
          <pc:sldMk cId="92811166" sldId="305"/>
        </pc:sldMkLst>
        <pc:picChg chg="mod">
          <ac:chgData name="alexandre.maiemery" userId="1f11653a-c8a4-46ff-9b76-cd06afc4df71" providerId="ADAL" clId="{FE012250-5090-4A75-A2FD-50F9A923C983}" dt="2025-11-26T11:05:53.063" v="2" actId="1036"/>
          <ac:picMkLst>
            <pc:docMk/>
            <pc:sldMk cId="92811166" sldId="305"/>
            <ac:picMk id="8" creationId="{CC5EE71F-5DE7-3346-9F89-2CD934653F3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9A4C0-A68D-428F-936C-9024F77001F8}" type="datetimeFigureOut">
              <a:rPr lang="fr-FR" smtClean="0"/>
              <a:pPr/>
              <a:t>26/11/2025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4C13F-AAB7-4BA2-833A-71EC76450D9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2102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450EB-127C-429C-85DB-3A828E35EED0}" type="datetime1">
              <a:rPr lang="fr-FR" smtClean="0"/>
              <a:pPr/>
              <a:t>26/11/2025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039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E76-BE08-4D39-B67C-73D6F6FEB8F0}" type="datetime1">
              <a:rPr lang="fr-FR" smtClean="0"/>
              <a:pPr/>
              <a:t>26/11/2025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3450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CB96B-061A-4EA0-AB46-D597C417F8E9}" type="datetime1">
              <a:rPr lang="fr-FR" smtClean="0"/>
              <a:pPr/>
              <a:t>26/11/2025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638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29286-9E42-4794-9C39-DA07A6536674}" type="datetime1">
              <a:rPr lang="fr-FR" smtClean="0"/>
              <a:pPr/>
              <a:t>26/11/2025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599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3127-AD99-495C-85DB-A40B69F31D65}" type="datetime1">
              <a:rPr lang="fr-FR" smtClean="0"/>
              <a:pPr/>
              <a:t>26/11/2025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438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680B9-05D3-4D88-AE9B-1A22BCCE7BA4}" type="datetime1">
              <a:rPr lang="fr-FR" smtClean="0"/>
              <a:pPr/>
              <a:t>26/11/2025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571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DBA99-63C6-48F9-B9FE-2B7D5558C206}" type="datetime1">
              <a:rPr lang="fr-FR" smtClean="0"/>
              <a:pPr/>
              <a:t>26/11/2025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850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B5D92FF-0C7A-49AE-B269-C2FD8C09FF58}" type="datetime1">
              <a:rPr lang="fr-FR" smtClean="0"/>
              <a:pPr/>
              <a:t>26/11/2025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2D0788-6B20-48EB-9EDB-CFD5157D519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629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8D48-2017-4FD9-AADC-702C336C4E75}" type="datetime1">
              <a:rPr lang="fr-FR" smtClean="0"/>
              <a:pPr/>
              <a:t>26/11/2025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328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E2D-107D-4404-89E1-9AE595382635}" type="datetime1">
              <a:rPr lang="fr-FR" smtClean="0"/>
              <a:pPr/>
              <a:t>26/11/2025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B15E-3B02-4870-AF2E-CE9A93111071}" type="datetime1">
              <a:rPr lang="fr-FR" smtClean="0"/>
              <a:pPr/>
              <a:t>26/11/2025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7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254C01B-0486-4273-8878-025D2F1EB2CF}" type="datetime1">
              <a:rPr lang="fr-FR" smtClean="0"/>
              <a:pPr/>
              <a:t>26/11/2025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52D0788-6B20-48EB-9EDB-CFD5157D5195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19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8.xml"/><Relationship Id="rId7" Type="http://schemas.openxmlformats.org/officeDocument/2006/relationships/image" Target="../media/image4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1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image" Target="../media/image13.jpe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12.jpe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image" Target="../media/image14.jpe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15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9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16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6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9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image" Target="../media/image15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97280" y="1152113"/>
            <a:ext cx="10058400" cy="2468603"/>
          </a:xfrm>
        </p:spPr>
        <p:txBody>
          <a:bodyPr/>
          <a:lstStyle/>
          <a:p>
            <a:r>
              <a:rPr lang="fr-FR" dirty="0"/>
              <a:t>Protocoles de routages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dirty="0"/>
              <a:t>NSI TERMINALE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1</a:t>
            </a:fld>
            <a:endParaRPr lang="fr-FR" dirty="0"/>
          </a:p>
        </p:txBody>
      </p:sp>
      <p:pic>
        <p:nvPicPr>
          <p:cNvPr id="1026" name="images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07" y="317396"/>
            <a:ext cx="3080485" cy="62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902" y="4541316"/>
            <a:ext cx="1537162" cy="170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653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Rappels de première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r>
              <a:rPr lang="fr-FR" sz="2400" b="1" dirty="0"/>
              <a:t>Composants d'un réseau :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0070C0"/>
                </a:solidFill>
              </a:rPr>
              <a:t>Concentrateur (Hub) </a:t>
            </a:r>
            <a:r>
              <a:rPr lang="fr-FR" sz="2400" dirty="0"/>
              <a:t>: Permet de connecter plusieurs machines entre elles. Il reçoit les données par un port et les renvoies sur tous les autres.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0070C0"/>
                </a:solidFill>
              </a:rPr>
              <a:t>Commutateur (Switch)</a:t>
            </a:r>
            <a:r>
              <a:rPr lang="fr-FR" sz="2400" dirty="0"/>
              <a:t> : Permet de connecter plusieurs machines entre elles. Il renvoi les données qu'il reçoit uniquement au destinataire.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0070C0"/>
                </a:solidFill>
              </a:rPr>
              <a:t>Routeur (Router)</a:t>
            </a:r>
            <a:r>
              <a:rPr lang="fr-FR" sz="2400" dirty="0"/>
              <a:t> : Permet de connecter plusieurs machines au réseau, mais permet aussi de connecter plusieurs réseaux.</a:t>
            </a:r>
          </a:p>
        </p:txBody>
      </p:sp>
      <p:pic>
        <p:nvPicPr>
          <p:cNvPr id="8" name="Picture 20" descr="C:\Users\ecoffey\AppData\Local\Temp\Rar$DRa0.386\30067_Device_router_unknown_64.png">
            <a:extLst>
              <a:ext uri="{FF2B5EF4-FFF2-40B4-BE49-F238E27FC236}">
                <a16:creationId xmlns:a16="http://schemas.microsoft.com/office/drawing/2014/main" id="{AE4C7C96-8261-4647-B088-1B2E5A916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13492" y="5499368"/>
            <a:ext cx="797979" cy="79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0" descr="C:\Users\ecoffey\AppData\Local\Temp\Rar$DRa0.608\30080_Device_switch_unknown_64.png">
            <a:extLst>
              <a:ext uri="{FF2B5EF4-FFF2-40B4-BE49-F238E27FC236}">
                <a16:creationId xmlns:a16="http://schemas.microsoft.com/office/drawing/2014/main" id="{94E0F6E2-0E31-C04B-B2F3-73216B804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69673" y="4090807"/>
            <a:ext cx="685616" cy="68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0" descr="C:\Users\ecoffey\AppData\Local\Temp\Rar$DRa0.920\30034_Device_hub_unknown_64.png">
            <a:extLst>
              <a:ext uri="{FF2B5EF4-FFF2-40B4-BE49-F238E27FC236}">
                <a16:creationId xmlns:a16="http://schemas.microsoft.com/office/drawing/2014/main" id="{1BAA1A8E-372B-434E-A704-8965C4317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13492" y="2587403"/>
            <a:ext cx="721062" cy="72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85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Rappels de première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b="1" dirty="0"/>
          </a:p>
          <a:p>
            <a:r>
              <a:rPr lang="fr-FR" sz="2400" b="1" dirty="0"/>
              <a:t>Le modèle OSI </a:t>
            </a:r>
            <a:r>
              <a:rPr lang="fr-FR" sz="2400" dirty="0"/>
              <a:t>est décomposé en 7 couches ayant un rôle défini. Le modèle TCP/IP s'appuie sur ce modèle.</a:t>
            </a:r>
          </a:p>
        </p:txBody>
      </p:sp>
      <p:grpSp>
        <p:nvGrpSpPr>
          <p:cNvPr id="3" name="Groupe 2"/>
          <p:cNvGrpSpPr/>
          <p:nvPr/>
        </p:nvGrpSpPr>
        <p:grpSpPr>
          <a:xfrm>
            <a:off x="2297004" y="2177654"/>
            <a:ext cx="7889202" cy="3951339"/>
            <a:chOff x="2180626" y="2169339"/>
            <a:chExt cx="7889202" cy="3951339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8BF3B026-9E21-0548-B98E-F7432B3A3559}"/>
                </a:ext>
              </a:extLst>
            </p:cNvPr>
            <p:cNvGrpSpPr/>
            <p:nvPr/>
          </p:nvGrpSpPr>
          <p:grpSpPr>
            <a:xfrm>
              <a:off x="2180626" y="2169339"/>
              <a:ext cx="7889202" cy="3951339"/>
              <a:chOff x="2151399" y="2620028"/>
              <a:chExt cx="7889202" cy="3951339"/>
            </a:xfrm>
          </p:grpSpPr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BEABF91A-1498-0A4A-9130-2D5071A30751}"/>
                  </a:ext>
                </a:extLst>
              </p:cNvPr>
              <p:cNvSpPr txBox="1"/>
              <p:nvPr/>
            </p:nvSpPr>
            <p:spPr>
              <a:xfrm>
                <a:off x="2786399" y="2620029"/>
                <a:ext cx="2705100" cy="51077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Application</a:t>
                </a:r>
              </a:p>
            </p:txBody>
          </p:sp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1330C68-25C7-DB4B-8BBB-79DCA132E55E}"/>
                  </a:ext>
                </a:extLst>
              </p:cNvPr>
              <p:cNvSpPr txBox="1"/>
              <p:nvPr/>
            </p:nvSpPr>
            <p:spPr>
              <a:xfrm>
                <a:off x="2786399" y="3193456"/>
                <a:ext cx="2705100" cy="51077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Présentation</a:t>
                </a:r>
              </a:p>
            </p:txBody>
          </p:sp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60512AAE-4E98-1F42-9E82-0F88D156A451}"/>
                  </a:ext>
                </a:extLst>
              </p:cNvPr>
              <p:cNvSpPr txBox="1"/>
              <p:nvPr/>
            </p:nvSpPr>
            <p:spPr>
              <a:xfrm>
                <a:off x="2786399" y="3766883"/>
                <a:ext cx="2705100" cy="51077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Session</a:t>
                </a:r>
              </a:p>
            </p:txBody>
          </p: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602F1886-101A-9D42-B268-AB72F8C155BB}"/>
                  </a:ext>
                </a:extLst>
              </p:cNvPr>
              <p:cNvSpPr txBox="1"/>
              <p:nvPr/>
            </p:nvSpPr>
            <p:spPr>
              <a:xfrm>
                <a:off x="2786399" y="4340310"/>
                <a:ext cx="2705100" cy="51077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Transport</a:t>
                </a:r>
              </a:p>
            </p:txBody>
          </p:sp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43F006FA-9A6C-DF49-A4DB-F0B1CD871DD6}"/>
                  </a:ext>
                </a:extLst>
              </p:cNvPr>
              <p:cNvSpPr txBox="1"/>
              <p:nvPr/>
            </p:nvSpPr>
            <p:spPr>
              <a:xfrm>
                <a:off x="2786399" y="4913737"/>
                <a:ext cx="2705100" cy="51077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Réseau</a:t>
                </a:r>
              </a:p>
            </p:txBody>
          </p:sp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59AF44C0-F83C-D44B-A309-58487C6A874D}"/>
                  </a:ext>
                </a:extLst>
              </p:cNvPr>
              <p:cNvSpPr txBox="1"/>
              <p:nvPr/>
            </p:nvSpPr>
            <p:spPr>
              <a:xfrm>
                <a:off x="2786399" y="5487164"/>
                <a:ext cx="2705100" cy="51077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Liaison de données</a:t>
                </a:r>
              </a:p>
            </p:txBody>
          </p:sp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02DD65BF-A3D8-884A-BC7D-2FC91D477794}"/>
                  </a:ext>
                </a:extLst>
              </p:cNvPr>
              <p:cNvSpPr txBox="1"/>
              <p:nvPr/>
            </p:nvSpPr>
            <p:spPr>
              <a:xfrm>
                <a:off x="2786399" y="6060589"/>
                <a:ext cx="2705100" cy="51077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Physique</a:t>
                </a:r>
              </a:p>
            </p:txBody>
          </p:sp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9264F313-3958-A646-BC0C-058EFE8DE936}"/>
                  </a:ext>
                </a:extLst>
              </p:cNvPr>
              <p:cNvSpPr txBox="1"/>
              <p:nvPr/>
            </p:nvSpPr>
            <p:spPr>
              <a:xfrm>
                <a:off x="2151399" y="2620028"/>
                <a:ext cx="457200" cy="501848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7</a:t>
                </a:r>
              </a:p>
            </p:txBody>
          </p:sp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1B3BD3D-0592-7642-B32D-AD3FFC27BB9F}"/>
                  </a:ext>
                </a:extLst>
              </p:cNvPr>
              <p:cNvSpPr txBox="1"/>
              <p:nvPr/>
            </p:nvSpPr>
            <p:spPr>
              <a:xfrm>
                <a:off x="2151399" y="3193455"/>
                <a:ext cx="457200" cy="501848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6</a:t>
                </a:r>
              </a:p>
            </p:txBody>
          </p:sp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D91179C2-FE0B-C844-BBE7-71A98B8B9B72}"/>
                  </a:ext>
                </a:extLst>
              </p:cNvPr>
              <p:cNvSpPr txBox="1"/>
              <p:nvPr/>
            </p:nvSpPr>
            <p:spPr>
              <a:xfrm>
                <a:off x="2151399" y="3766882"/>
                <a:ext cx="457200" cy="501848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5</a:t>
                </a:r>
              </a:p>
            </p:txBody>
          </p:sp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EB894F66-D87C-3F4C-83A8-5257D3E5F830}"/>
                  </a:ext>
                </a:extLst>
              </p:cNvPr>
              <p:cNvSpPr txBox="1"/>
              <p:nvPr/>
            </p:nvSpPr>
            <p:spPr>
              <a:xfrm>
                <a:off x="2151399" y="4340309"/>
                <a:ext cx="457200" cy="501848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4</a:t>
                </a:r>
              </a:p>
            </p:txBody>
          </p:sp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C3175F21-2A03-EE48-920A-B1799F9BBC3D}"/>
                  </a:ext>
                </a:extLst>
              </p:cNvPr>
              <p:cNvSpPr txBox="1"/>
              <p:nvPr/>
            </p:nvSpPr>
            <p:spPr>
              <a:xfrm>
                <a:off x="2151399" y="4913736"/>
                <a:ext cx="457200" cy="501848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3</a:t>
                </a:r>
              </a:p>
            </p:txBody>
          </p:sp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20B33FAB-380B-784A-81E9-91E55E18FB65}"/>
                  </a:ext>
                </a:extLst>
              </p:cNvPr>
              <p:cNvSpPr txBox="1"/>
              <p:nvPr/>
            </p:nvSpPr>
            <p:spPr>
              <a:xfrm>
                <a:off x="2151399" y="5487163"/>
                <a:ext cx="457200" cy="501848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2</a:t>
                </a:r>
              </a:p>
            </p:txBody>
          </p:sp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3D81CE36-5E3F-A746-929E-DD25ACDE1EED}"/>
                  </a:ext>
                </a:extLst>
              </p:cNvPr>
              <p:cNvSpPr txBox="1"/>
              <p:nvPr/>
            </p:nvSpPr>
            <p:spPr>
              <a:xfrm>
                <a:off x="2151399" y="6060588"/>
                <a:ext cx="457200" cy="501848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1</a:t>
                </a: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D0E27C75-826F-7B4F-8EFE-D61423548CC0}"/>
                  </a:ext>
                </a:extLst>
              </p:cNvPr>
              <p:cNvSpPr txBox="1"/>
              <p:nvPr/>
            </p:nvSpPr>
            <p:spPr>
              <a:xfrm>
                <a:off x="6163015" y="2620028"/>
                <a:ext cx="1746853" cy="161122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fr-FR" sz="2400" dirty="0"/>
                  <a:t>Application</a:t>
                </a:r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11EF02D7-CE9D-264C-935F-2E28C5F205BF}"/>
                  </a:ext>
                </a:extLst>
              </p:cNvPr>
              <p:cNvSpPr txBox="1"/>
              <p:nvPr/>
            </p:nvSpPr>
            <p:spPr>
              <a:xfrm>
                <a:off x="6163015" y="4316724"/>
                <a:ext cx="1746853" cy="510778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Transport</a:t>
                </a:r>
              </a:p>
            </p:txBody>
          </p:sp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9A970AC3-B5C8-1F46-ACDB-CFA0BCC6B7BE}"/>
                  </a:ext>
                </a:extLst>
              </p:cNvPr>
              <p:cNvSpPr txBox="1"/>
              <p:nvPr/>
            </p:nvSpPr>
            <p:spPr>
              <a:xfrm>
                <a:off x="6163015" y="4913736"/>
                <a:ext cx="1746853" cy="510778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Internet</a:t>
                </a:r>
              </a:p>
            </p:txBody>
          </p:sp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6D322D96-1B13-744D-A598-C6A5C31AA21B}"/>
                  </a:ext>
                </a:extLst>
              </p:cNvPr>
              <p:cNvGrpSpPr/>
              <p:nvPr/>
            </p:nvGrpSpPr>
            <p:grpSpPr>
              <a:xfrm>
                <a:off x="5583690" y="3414202"/>
                <a:ext cx="457215" cy="2864330"/>
                <a:chOff x="-471072" y="3411878"/>
                <a:chExt cx="804682" cy="2864330"/>
              </a:xfrm>
            </p:grpSpPr>
            <p:cxnSp>
              <p:nvCxnSpPr>
                <p:cNvPr id="38" name="Connecteur droit avec flèche 37">
                  <a:extLst>
                    <a:ext uri="{FF2B5EF4-FFF2-40B4-BE49-F238E27FC236}">
                      <a16:creationId xmlns:a16="http://schemas.microsoft.com/office/drawing/2014/main" id="{025A0455-D91E-4A40-8613-838C538BEFF9}"/>
                    </a:ext>
                  </a:extLst>
                </p:cNvPr>
                <p:cNvCxnSpPr/>
                <p:nvPr/>
              </p:nvCxnSpPr>
              <p:spPr>
                <a:xfrm>
                  <a:off x="-471072" y="3411878"/>
                  <a:ext cx="80465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sm"/>
                  <a:tailEnd type="arrow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necteur droit avec flèche 38">
                  <a:extLst>
                    <a:ext uri="{FF2B5EF4-FFF2-40B4-BE49-F238E27FC236}">
                      <a16:creationId xmlns:a16="http://schemas.microsoft.com/office/drawing/2014/main" id="{DEBC850B-99A8-9E40-9188-5172271183AA}"/>
                    </a:ext>
                  </a:extLst>
                </p:cNvPr>
                <p:cNvCxnSpPr/>
                <p:nvPr/>
              </p:nvCxnSpPr>
              <p:spPr>
                <a:xfrm>
                  <a:off x="-471072" y="4544403"/>
                  <a:ext cx="804650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sm"/>
                  <a:tailEnd type="arrow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necteur droit avec flèche 39">
                  <a:extLst>
                    <a:ext uri="{FF2B5EF4-FFF2-40B4-BE49-F238E27FC236}">
                      <a16:creationId xmlns:a16="http://schemas.microsoft.com/office/drawing/2014/main" id="{DC7F8DDA-1AD6-A545-BEA4-9EE74BDC58D2}"/>
                    </a:ext>
                  </a:extLst>
                </p:cNvPr>
                <p:cNvCxnSpPr/>
                <p:nvPr/>
              </p:nvCxnSpPr>
              <p:spPr>
                <a:xfrm>
                  <a:off x="-471049" y="5137706"/>
                  <a:ext cx="804659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sm"/>
                  <a:tailEnd type="arrow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necteur droit avec flèche 40">
                  <a:extLst>
                    <a:ext uri="{FF2B5EF4-FFF2-40B4-BE49-F238E27FC236}">
                      <a16:creationId xmlns:a16="http://schemas.microsoft.com/office/drawing/2014/main" id="{4A6D0547-ACAD-124D-A150-B12AB20D5517}"/>
                    </a:ext>
                  </a:extLst>
                </p:cNvPr>
                <p:cNvCxnSpPr/>
                <p:nvPr/>
              </p:nvCxnSpPr>
              <p:spPr>
                <a:xfrm>
                  <a:off x="-471049" y="5686945"/>
                  <a:ext cx="804659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sm"/>
                  <a:tailEnd type="arrow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necteur droit avec flèche 41">
                  <a:extLst>
                    <a:ext uri="{FF2B5EF4-FFF2-40B4-BE49-F238E27FC236}">
                      <a16:creationId xmlns:a16="http://schemas.microsoft.com/office/drawing/2014/main" id="{FE0D81C6-B6EF-FD44-9599-89F85D87ACC6}"/>
                    </a:ext>
                  </a:extLst>
                </p:cNvPr>
                <p:cNvCxnSpPr/>
                <p:nvPr/>
              </p:nvCxnSpPr>
              <p:spPr>
                <a:xfrm>
                  <a:off x="-471049" y="6276208"/>
                  <a:ext cx="804659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sm"/>
                  <a:tailEnd type="arrow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9303FBB8-77D4-464A-A0BC-8DC20A30D19B}"/>
                  </a:ext>
                </a:extLst>
              </p:cNvPr>
              <p:cNvSpPr txBox="1"/>
              <p:nvPr/>
            </p:nvSpPr>
            <p:spPr>
              <a:xfrm>
                <a:off x="8577353" y="4278061"/>
                <a:ext cx="1463248" cy="510778"/>
              </a:xfrm>
              <a:prstGeom prst="roundRect">
                <a:avLst/>
              </a:prstGeom>
              <a:solidFill>
                <a:srgbClr val="BA56FF"/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TCP</a:t>
                </a:r>
              </a:p>
            </p:txBody>
          </p:sp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4938D879-70EA-6745-AFBC-A53A30A4BD70}"/>
                  </a:ext>
                </a:extLst>
              </p:cNvPr>
              <p:cNvSpPr txBox="1"/>
              <p:nvPr/>
            </p:nvSpPr>
            <p:spPr>
              <a:xfrm>
                <a:off x="8577353" y="4902783"/>
                <a:ext cx="1463248" cy="510778"/>
              </a:xfrm>
              <a:prstGeom prst="roundRect">
                <a:avLst/>
              </a:prstGeom>
              <a:solidFill>
                <a:srgbClr val="BA56FF"/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IP</a:t>
                </a:r>
              </a:p>
            </p:txBody>
          </p:sp>
          <p:grpSp>
            <p:nvGrpSpPr>
              <p:cNvPr id="29" name="Groupe 28">
                <a:extLst>
                  <a:ext uri="{FF2B5EF4-FFF2-40B4-BE49-F238E27FC236}">
                    <a16:creationId xmlns:a16="http://schemas.microsoft.com/office/drawing/2014/main" id="{BB4D3659-7DEB-664E-B35E-B697E97FBACC}"/>
                  </a:ext>
                </a:extLst>
              </p:cNvPr>
              <p:cNvGrpSpPr/>
              <p:nvPr/>
            </p:nvGrpSpPr>
            <p:grpSpPr>
              <a:xfrm>
                <a:off x="8014999" y="4526430"/>
                <a:ext cx="457215" cy="1731805"/>
                <a:chOff x="-471072" y="4544403"/>
                <a:chExt cx="804682" cy="1731805"/>
              </a:xfrm>
            </p:grpSpPr>
            <p:cxnSp>
              <p:nvCxnSpPr>
                <p:cNvPr id="34" name="Connecteur droit avec flèche 33">
                  <a:extLst>
                    <a:ext uri="{FF2B5EF4-FFF2-40B4-BE49-F238E27FC236}">
                      <a16:creationId xmlns:a16="http://schemas.microsoft.com/office/drawing/2014/main" id="{B464E2F5-7D6B-EA4F-B2D1-5FC83F0A0B04}"/>
                    </a:ext>
                  </a:extLst>
                </p:cNvPr>
                <p:cNvCxnSpPr/>
                <p:nvPr/>
              </p:nvCxnSpPr>
              <p:spPr>
                <a:xfrm>
                  <a:off x="-471072" y="4544403"/>
                  <a:ext cx="80465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sm"/>
                  <a:tailEnd type="arrow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necteur droit avec flèche 34">
                  <a:extLst>
                    <a:ext uri="{FF2B5EF4-FFF2-40B4-BE49-F238E27FC236}">
                      <a16:creationId xmlns:a16="http://schemas.microsoft.com/office/drawing/2014/main" id="{A987B550-51AA-E044-BA10-37385EBD2281}"/>
                    </a:ext>
                  </a:extLst>
                </p:cNvPr>
                <p:cNvCxnSpPr/>
                <p:nvPr/>
              </p:nvCxnSpPr>
              <p:spPr>
                <a:xfrm>
                  <a:off x="-471072" y="5137706"/>
                  <a:ext cx="804650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sm"/>
                  <a:tailEnd type="arrow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Connecteur droit avec flèche 35">
                  <a:extLst>
                    <a:ext uri="{FF2B5EF4-FFF2-40B4-BE49-F238E27FC236}">
                      <a16:creationId xmlns:a16="http://schemas.microsoft.com/office/drawing/2014/main" id="{75E7140B-055E-164C-8246-94E1BFAB42AE}"/>
                    </a:ext>
                  </a:extLst>
                </p:cNvPr>
                <p:cNvCxnSpPr/>
                <p:nvPr/>
              </p:nvCxnSpPr>
              <p:spPr>
                <a:xfrm>
                  <a:off x="-471049" y="5686945"/>
                  <a:ext cx="804659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sm"/>
                  <a:tailEnd type="arrow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Connecteur droit avec flèche 36">
                  <a:extLst>
                    <a:ext uri="{FF2B5EF4-FFF2-40B4-BE49-F238E27FC236}">
                      <a16:creationId xmlns:a16="http://schemas.microsoft.com/office/drawing/2014/main" id="{975F77F6-903D-974F-8E83-3A9C99347026}"/>
                    </a:ext>
                  </a:extLst>
                </p:cNvPr>
                <p:cNvCxnSpPr/>
                <p:nvPr/>
              </p:nvCxnSpPr>
              <p:spPr>
                <a:xfrm>
                  <a:off x="-471049" y="6276208"/>
                  <a:ext cx="804659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sm"/>
                  <a:tailEnd type="arrow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Connecteur droit avec flèche 29">
                <a:extLst>
                  <a:ext uri="{FF2B5EF4-FFF2-40B4-BE49-F238E27FC236}">
                    <a16:creationId xmlns:a16="http://schemas.microsoft.com/office/drawing/2014/main" id="{4350A52E-A6E2-5A42-8EB1-EC68D681B7F4}"/>
                  </a:ext>
                </a:extLst>
              </p:cNvPr>
              <p:cNvCxnSpPr/>
              <p:nvPr/>
            </p:nvCxnSpPr>
            <p:spPr>
              <a:xfrm>
                <a:off x="5611401" y="3929375"/>
                <a:ext cx="45719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necteur droit avec flèche 30">
                <a:extLst>
                  <a:ext uri="{FF2B5EF4-FFF2-40B4-BE49-F238E27FC236}">
                    <a16:creationId xmlns:a16="http://schemas.microsoft.com/office/drawing/2014/main" id="{C5BEB4DA-5894-E748-8850-E92020A4C5D2}"/>
                  </a:ext>
                </a:extLst>
              </p:cNvPr>
              <p:cNvCxnSpPr/>
              <p:nvPr/>
            </p:nvCxnSpPr>
            <p:spPr>
              <a:xfrm>
                <a:off x="5583691" y="2834866"/>
                <a:ext cx="45719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necteur droit avec flèche 31">
                <a:extLst>
                  <a:ext uri="{FF2B5EF4-FFF2-40B4-BE49-F238E27FC236}">
                    <a16:creationId xmlns:a16="http://schemas.microsoft.com/office/drawing/2014/main" id="{1E4749C2-4314-8A44-8938-6C1B9710C008}"/>
                  </a:ext>
                </a:extLst>
              </p:cNvPr>
              <p:cNvCxnSpPr/>
              <p:nvPr/>
            </p:nvCxnSpPr>
            <p:spPr>
              <a:xfrm>
                <a:off x="8014999" y="3414202"/>
                <a:ext cx="45719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04C86127-31CD-AA4D-B3D6-CFC0FBD26F38}"/>
                  </a:ext>
                </a:extLst>
              </p:cNvPr>
              <p:cNvSpPr txBox="1"/>
              <p:nvPr/>
            </p:nvSpPr>
            <p:spPr>
              <a:xfrm>
                <a:off x="8577329" y="2620028"/>
                <a:ext cx="1463248" cy="1530685"/>
              </a:xfrm>
              <a:prstGeom prst="roundRect">
                <a:avLst/>
              </a:prstGeom>
              <a:solidFill>
                <a:srgbClr val="BA56FF"/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fr-FR" sz="2400" dirty="0"/>
                  <a:t>HTTP, FTP, SSH, …</a:t>
                </a:r>
              </a:p>
            </p:txBody>
          </p:sp>
        </p:grp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033CFE2A-7B8E-5247-BC7D-984EF9513AB4}"/>
                </a:ext>
              </a:extLst>
            </p:cNvPr>
            <p:cNvSpPr txBox="1"/>
            <p:nvPr/>
          </p:nvSpPr>
          <p:spPr>
            <a:xfrm>
              <a:off x="6192242" y="5101175"/>
              <a:ext cx="1746853" cy="101950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dirty="0"/>
                <a:t>Accès réseau</a:t>
              </a:r>
            </a:p>
          </p:txBody>
        </p: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BF9C9A81-2551-264C-8CC6-847498F6D753}"/>
                </a:ext>
              </a:extLst>
            </p:cNvPr>
            <p:cNvSpPr txBox="1"/>
            <p:nvPr/>
          </p:nvSpPr>
          <p:spPr>
            <a:xfrm>
              <a:off x="8606580" y="5090222"/>
              <a:ext cx="1463248" cy="1019503"/>
            </a:xfrm>
            <a:prstGeom prst="roundRect">
              <a:avLst/>
            </a:prstGeom>
            <a:solidFill>
              <a:srgbClr val="BA56FF"/>
            </a:solidFill>
            <a:ln w="12700">
              <a:solidFill>
                <a:srgbClr val="FF0208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dirty="0"/>
                <a:t>Ethernet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652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Rappels de première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r>
              <a:rPr lang="fr-FR" sz="2400" b="1" dirty="0"/>
              <a:t>Adressage IP</a:t>
            </a:r>
          </a:p>
          <a:p>
            <a:endParaRPr lang="fr-F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L'adresse IP permet d'identifier une machine sur un réseau.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La norme encore majoritairement utilisée est la norme </a:t>
            </a:r>
            <a:r>
              <a:rPr lang="fr-FR" sz="2400" dirty="0">
                <a:solidFill>
                  <a:srgbClr val="0070C0"/>
                </a:solidFill>
              </a:rPr>
              <a:t>IPv4</a:t>
            </a:r>
            <a:r>
              <a:rPr lang="fr-FR" sz="2400" dirty="0"/>
              <a:t> : L'adresse est codée sur 4 octets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algn="ctr"/>
            <a:r>
              <a:rPr lang="fr-FR" sz="24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11000000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lang="fr-FR" sz="2400" dirty="0">
                <a:solidFill>
                  <a:srgbClr val="00B0F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10101000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lang="fr-FR" sz="2400" dirty="0">
                <a:solidFill>
                  <a:srgbClr val="BA56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01111101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lang="fr-FR" sz="2400" dirty="0">
                <a:solidFill>
                  <a:srgbClr val="92D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00001100</a:t>
            </a:r>
          </a:p>
          <a:p>
            <a:pPr algn="ctr"/>
            <a:r>
              <a:rPr lang="fr-FR" sz="44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192</a:t>
            </a:r>
            <a:r>
              <a:rPr lang="fr-FR" sz="4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lang="fr-FR" sz="4400" dirty="0">
                <a:solidFill>
                  <a:srgbClr val="00B0F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168</a:t>
            </a:r>
            <a:r>
              <a:rPr lang="fr-FR" sz="4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lang="fr-FR" sz="4400" dirty="0">
                <a:solidFill>
                  <a:srgbClr val="BA56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125</a:t>
            </a:r>
            <a:r>
              <a:rPr lang="fr-FR" sz="4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lang="fr-FR" sz="4400" dirty="0">
                <a:solidFill>
                  <a:srgbClr val="92D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12</a:t>
            </a:r>
            <a:endParaRPr lang="fr-FR" sz="2400" dirty="0"/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Elle permet d'adresser 2</a:t>
            </a:r>
            <a:r>
              <a:rPr lang="fr-FR" sz="2400" baseline="30000" dirty="0"/>
              <a:t>32</a:t>
            </a:r>
            <a:r>
              <a:rPr lang="fr-FR" sz="2400" dirty="0"/>
              <a:t> machines</a:t>
            </a:r>
          </a:p>
        </p:txBody>
      </p:sp>
    </p:spTree>
    <p:extLst>
      <p:ext uri="{BB962C8B-B14F-4D97-AF65-F5344CB8AC3E}">
        <p14:creationId xmlns:p14="http://schemas.microsoft.com/office/powerpoint/2010/main" val="3936775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Rappels de première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r>
              <a:rPr lang="fr-FR" sz="2400" b="1" dirty="0"/>
              <a:t>Masque sous-réseau</a:t>
            </a:r>
          </a:p>
          <a:p>
            <a:endParaRPr lang="fr-F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L'adresse IP permet d'identifier une machine et le réseau sur lequel elle est reliée, grâce </a:t>
            </a:r>
            <a:r>
              <a:rPr lang="fr-FR" sz="2400" dirty="0" err="1"/>
              <a:t>qu</a:t>
            </a:r>
            <a:r>
              <a:rPr lang="fr-FR" sz="2400" dirty="0"/>
              <a:t> masque de sous-réseau : Il est codé sur 4 octets, et est composé d'une succession de 1 qui représentent la partie réseau de l'adresse IP, puis de 0 qui représentent la partie machine.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Exemple :</a:t>
            </a:r>
          </a:p>
          <a:p>
            <a:pPr algn="ctr"/>
            <a:r>
              <a:rPr lang="fr-FR" sz="2400" dirty="0">
                <a:solidFill>
                  <a:srgbClr val="92D050"/>
                </a:solidFill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255.255</a:t>
            </a:r>
            <a:r>
              <a:rPr lang="fr-FR" sz="2400" dirty="0"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lang="fr-FR" sz="2400" dirty="0">
                <a:solidFill>
                  <a:srgbClr val="00B0F0"/>
                </a:solidFill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0.0</a:t>
            </a:r>
            <a:r>
              <a:rPr lang="fr-FR" sz="2400" dirty="0">
                <a:solidFill>
                  <a:schemeClr val="bg1"/>
                </a:solidFill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fr-FR" sz="2400" dirty="0"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-&gt; </a:t>
            </a:r>
            <a:r>
              <a:rPr lang="fr-FR" sz="2400" dirty="0">
                <a:solidFill>
                  <a:srgbClr val="92D050"/>
                </a:solidFill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11111111.11111111</a:t>
            </a:r>
            <a:r>
              <a:rPr lang="fr-FR" sz="2400" dirty="0"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lang="fr-FR" sz="2400" dirty="0">
                <a:solidFill>
                  <a:srgbClr val="00B0F0"/>
                </a:solidFill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00000000.00000000</a:t>
            </a:r>
          </a:p>
          <a:p>
            <a:pPr algn="ctr"/>
            <a:r>
              <a:rPr lang="fr-FR" sz="2400" dirty="0">
                <a:solidFill>
                  <a:srgbClr val="92D050"/>
                </a:solidFill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192.168</a:t>
            </a:r>
            <a:r>
              <a:rPr lang="fr-FR" sz="2400" dirty="0"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lang="fr-FR" sz="2400" dirty="0">
                <a:solidFill>
                  <a:srgbClr val="00B0F0"/>
                </a:solidFill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0.1</a:t>
            </a:r>
            <a:r>
              <a:rPr lang="fr-FR" sz="2400" dirty="0"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 -&gt; </a:t>
            </a:r>
            <a:r>
              <a:rPr lang="fr-FR" sz="2400" dirty="0">
                <a:solidFill>
                  <a:srgbClr val="92D050"/>
                </a:solidFill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11000000.10101000</a:t>
            </a:r>
            <a:r>
              <a:rPr lang="fr-FR" sz="2400" dirty="0"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lang="fr-FR" sz="2400" dirty="0">
                <a:solidFill>
                  <a:srgbClr val="00B0F0"/>
                </a:solidFill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00000000.00000001</a:t>
            </a:r>
          </a:p>
          <a:p>
            <a:r>
              <a:rPr lang="fr-FR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</a:t>
            </a:r>
          </a:p>
          <a:p>
            <a:r>
              <a:rPr lang="fr-FR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</a:t>
            </a:r>
            <a:r>
              <a:rPr lang="fr-FR" sz="2400" dirty="0">
                <a:solidFill>
                  <a:srgbClr val="92D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Partie réseau (NET ID)</a:t>
            </a:r>
            <a:r>
              <a:rPr lang="fr-FR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	</a:t>
            </a:r>
            <a:r>
              <a:rPr lang="fr-FR" sz="2400" dirty="0">
                <a:solidFill>
                  <a:srgbClr val="00B0F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Partie machine sur le réseau (HOST ID)</a:t>
            </a:r>
          </a:p>
          <a:p>
            <a:r>
              <a:rPr lang="fr-FR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</a:t>
            </a:r>
            <a:r>
              <a:rPr lang="fr-FR" sz="2400" dirty="0">
                <a:solidFill>
                  <a:srgbClr val="92D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(Identificateur réseau)		</a:t>
            </a:r>
            <a:r>
              <a:rPr lang="fr-FR" sz="2400" dirty="0">
                <a:solidFill>
                  <a:srgbClr val="00B0F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(Identificateur machine)</a:t>
            </a:r>
            <a:br>
              <a:rPr lang="fr-FR" sz="2400" dirty="0">
                <a:solidFill>
                  <a:srgbClr val="00B0F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fr-FR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   </a:t>
            </a:r>
          </a:p>
          <a:p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C'est donc la machine </a:t>
            </a:r>
            <a:r>
              <a:rPr lang="fr-FR" sz="2400" dirty="0">
                <a:solidFill>
                  <a:srgbClr val="00B0F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0.1</a:t>
            </a:r>
            <a:r>
              <a:rPr lang="fr-FR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sur le réseau </a:t>
            </a:r>
            <a:r>
              <a:rPr lang="fr-FR" sz="2400" dirty="0">
                <a:solidFill>
                  <a:srgbClr val="92D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192.168.0.0</a:t>
            </a:r>
          </a:p>
        </p:txBody>
      </p:sp>
    </p:spTree>
    <p:extLst>
      <p:ext uri="{BB962C8B-B14F-4D97-AF65-F5344CB8AC3E}">
        <p14:creationId xmlns:p14="http://schemas.microsoft.com/office/powerpoint/2010/main" val="2213374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Rappels de première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r>
              <a:rPr lang="fr-FR" sz="2400" b="1" dirty="0"/>
              <a:t>Masque sous-réseau (Notation CIDR)</a:t>
            </a:r>
          </a:p>
          <a:p>
            <a:endParaRPr lang="fr-FR" sz="2400" dirty="0">
              <a:solidFill>
                <a:srgbClr val="92D050"/>
              </a:solidFill>
              <a:latin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Une autre manière de noter le masque de sous-réseau est la notation CIDR : On note l'adresse du réseau ou de la machine suivi d'un / et du nombre de 1 qui compose le masque de sous-réseau.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Par exemple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algn="ctr"/>
            <a:r>
              <a:rPr lang="fr-FR" sz="2400" dirty="0">
                <a:solidFill>
                  <a:srgbClr val="92D050"/>
                </a:solidFill>
              </a:rPr>
              <a:t>192.168.0.1</a:t>
            </a:r>
            <a:r>
              <a:rPr lang="fr-FR" sz="2400" dirty="0"/>
              <a:t> et </a:t>
            </a:r>
            <a:r>
              <a:rPr lang="fr-FR" sz="2400" dirty="0">
                <a:solidFill>
                  <a:srgbClr val="0070C0"/>
                </a:solidFill>
              </a:rPr>
              <a:t>255.255.255.</a:t>
            </a:r>
            <a:r>
              <a:rPr lang="fr-FR" sz="2400" dirty="0"/>
              <a:t>0 ↔ </a:t>
            </a:r>
            <a:r>
              <a:rPr lang="fr-FR" sz="2400" dirty="0">
                <a:solidFill>
                  <a:srgbClr val="92D050"/>
                </a:solidFill>
              </a:rPr>
              <a:t>192.168.0.1</a:t>
            </a:r>
            <a:r>
              <a:rPr lang="fr-FR" sz="2400" dirty="0">
                <a:solidFill>
                  <a:srgbClr val="0070C0"/>
                </a:solidFill>
              </a:rPr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3706785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Le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Schéma d'un WAN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Un WAN est composé de LAN et de WAN</a:t>
            </a:r>
            <a:endParaRPr lang="fr-FR" sz="2400" dirty="0">
              <a:solidFill>
                <a:srgbClr val="92D05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816989C-5418-3544-8820-02488C0FF200}"/>
              </a:ext>
            </a:extLst>
          </p:cNvPr>
          <p:cNvGrpSpPr/>
          <p:nvPr/>
        </p:nvGrpSpPr>
        <p:grpSpPr>
          <a:xfrm>
            <a:off x="745172" y="1880868"/>
            <a:ext cx="10635503" cy="4436223"/>
            <a:chOff x="1099297" y="2214661"/>
            <a:chExt cx="10635503" cy="4436223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5193B548-961F-9445-94E6-FBDC99315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74973" y="2214661"/>
              <a:ext cx="5700175" cy="4436223"/>
            </a:xfrm>
            <a:prstGeom prst="rect">
              <a:avLst/>
            </a:prstGeom>
          </p:spPr>
        </p:pic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0D52A18-1F96-2143-B7FD-C97C4AF566DB}"/>
                </a:ext>
              </a:extLst>
            </p:cNvPr>
            <p:cNvSpPr/>
            <p:nvPr/>
          </p:nvSpPr>
          <p:spPr>
            <a:xfrm>
              <a:off x="4074973" y="3725155"/>
              <a:ext cx="1575543" cy="2186042"/>
            </a:xfrm>
            <a:prstGeom prst="ellipse">
              <a:avLst/>
            </a:prstGeom>
            <a:solidFill>
              <a:srgbClr val="00B0F0">
                <a:alpha val="55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42F1E67-4B41-D64E-8FA1-285E68ADE939}"/>
                </a:ext>
              </a:extLst>
            </p:cNvPr>
            <p:cNvSpPr txBox="1"/>
            <p:nvPr/>
          </p:nvSpPr>
          <p:spPr>
            <a:xfrm>
              <a:off x="1099297" y="3875852"/>
              <a:ext cx="1670894" cy="830997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00B0F0"/>
                  </a:solidFill>
                </a:rPr>
                <a:t>LAN </a:t>
              </a:r>
            </a:p>
            <a:p>
              <a:r>
                <a:rPr lang="fr-FR" sz="2400" dirty="0">
                  <a:solidFill>
                    <a:srgbClr val="00B0F0"/>
                  </a:solidFill>
                </a:rPr>
                <a:t>(ou WAN)</a:t>
              </a:r>
            </a:p>
          </p:txBody>
        </p:sp>
        <p:cxnSp>
          <p:nvCxnSpPr>
            <p:cNvPr id="12" name="Connecteur droit avec flèche 11">
              <a:extLst>
                <a:ext uri="{FF2B5EF4-FFF2-40B4-BE49-F238E27FC236}">
                  <a16:creationId xmlns:a16="http://schemas.microsoft.com/office/drawing/2014/main" id="{77AFE520-4906-244E-9555-C367F8A8E56E}"/>
                </a:ext>
              </a:extLst>
            </p:cNvPr>
            <p:cNvCxnSpPr>
              <a:cxnSpLocks/>
            </p:cNvCxnSpPr>
            <p:nvPr/>
          </p:nvCxnSpPr>
          <p:spPr>
            <a:xfrm>
              <a:off x="2939740" y="4149931"/>
              <a:ext cx="1087891" cy="282841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6C709E1C-4771-8C4D-9B50-8798DF9D3103}"/>
                </a:ext>
              </a:extLst>
            </p:cNvPr>
            <p:cNvSpPr/>
            <p:nvPr/>
          </p:nvSpPr>
          <p:spPr>
            <a:xfrm>
              <a:off x="8402621" y="3448817"/>
              <a:ext cx="1575543" cy="1598747"/>
            </a:xfrm>
            <a:prstGeom prst="ellipse">
              <a:avLst/>
            </a:prstGeom>
            <a:solidFill>
              <a:srgbClr val="00B0F0">
                <a:alpha val="55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35EA55D2-8F6E-F848-B82D-40C0A38090CF}"/>
                </a:ext>
              </a:extLst>
            </p:cNvPr>
            <p:cNvSpPr/>
            <p:nvPr/>
          </p:nvSpPr>
          <p:spPr>
            <a:xfrm>
              <a:off x="6197413" y="3311873"/>
              <a:ext cx="742262" cy="634888"/>
            </a:xfrm>
            <a:prstGeom prst="ellipse">
              <a:avLst/>
            </a:prstGeom>
            <a:solidFill>
              <a:srgbClr val="92D050">
                <a:alpha val="55000"/>
              </a:srgbClr>
            </a:solidFill>
            <a:ln w="28575">
              <a:solidFill>
                <a:srgbClr val="AD4F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54EBA9C3-C5BE-2242-8FFA-7CAF4701512B}"/>
                </a:ext>
              </a:extLst>
            </p:cNvPr>
            <p:cNvSpPr txBox="1"/>
            <p:nvPr/>
          </p:nvSpPr>
          <p:spPr>
            <a:xfrm>
              <a:off x="10422060" y="2450377"/>
              <a:ext cx="1312740" cy="461665"/>
            </a:xfrm>
            <a:prstGeom prst="rect">
              <a:avLst/>
            </a:prstGeom>
            <a:noFill/>
            <a:ln w="31750">
              <a:solidFill>
                <a:srgbClr val="AD4FF8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92D050"/>
                  </a:solidFill>
                </a:rPr>
                <a:t>Routeur</a:t>
              </a:r>
            </a:p>
          </p:txBody>
        </p: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412CD316-CD97-9F48-84F9-223E280EC8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1035" y="2739019"/>
              <a:ext cx="2191934" cy="776216"/>
            </a:xfrm>
            <a:prstGeom prst="straightConnector1">
              <a:avLst/>
            </a:prstGeom>
            <a:ln w="31750">
              <a:solidFill>
                <a:srgbClr val="AD4FF8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01EDC9B6-B6AF-9245-8D77-83F88EC77B16}"/>
                </a:ext>
              </a:extLst>
            </p:cNvPr>
            <p:cNvSpPr/>
            <p:nvPr/>
          </p:nvSpPr>
          <p:spPr>
            <a:xfrm>
              <a:off x="7278773" y="3362242"/>
              <a:ext cx="742262" cy="634888"/>
            </a:xfrm>
            <a:prstGeom prst="ellipse">
              <a:avLst/>
            </a:prstGeom>
            <a:solidFill>
              <a:srgbClr val="92D050">
                <a:alpha val="55000"/>
              </a:srgbClr>
            </a:solidFill>
            <a:ln w="28575">
              <a:solidFill>
                <a:srgbClr val="AD4F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9D7CA38C-585F-E14B-831E-55EF4AA7E3C4}"/>
                </a:ext>
              </a:extLst>
            </p:cNvPr>
            <p:cNvSpPr/>
            <p:nvPr/>
          </p:nvSpPr>
          <p:spPr>
            <a:xfrm>
              <a:off x="6663774" y="5276309"/>
              <a:ext cx="742262" cy="634888"/>
            </a:xfrm>
            <a:prstGeom prst="ellipse">
              <a:avLst/>
            </a:prstGeom>
            <a:solidFill>
              <a:srgbClr val="92D050">
                <a:alpha val="55000"/>
              </a:srgbClr>
            </a:solidFill>
            <a:ln w="28575">
              <a:solidFill>
                <a:srgbClr val="AD4F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AB05EC66-6C79-B047-8F9A-0C4D4A76D6C5}"/>
                </a:ext>
              </a:extLst>
            </p:cNvPr>
            <p:cNvSpPr/>
            <p:nvPr/>
          </p:nvSpPr>
          <p:spPr>
            <a:xfrm>
              <a:off x="7614849" y="5004663"/>
              <a:ext cx="1575543" cy="1598747"/>
            </a:xfrm>
            <a:prstGeom prst="ellipse">
              <a:avLst/>
            </a:prstGeom>
            <a:solidFill>
              <a:srgbClr val="00B0F0">
                <a:alpha val="55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234988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Le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Les routeurs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Chaque routeur dans le réseau possède autant d'adresse IP que d'interface réseaux. </a:t>
            </a:r>
            <a:endParaRPr lang="fr-FR" sz="2400" dirty="0">
              <a:solidFill>
                <a:srgbClr val="92D05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A42BBFC-D9CB-794D-A60E-EB7C991259A8}"/>
              </a:ext>
            </a:extLst>
          </p:cNvPr>
          <p:cNvGrpSpPr/>
          <p:nvPr/>
        </p:nvGrpSpPr>
        <p:grpSpPr>
          <a:xfrm>
            <a:off x="2835122" y="1990237"/>
            <a:ext cx="6580209" cy="4065374"/>
            <a:chOff x="2588772" y="2385204"/>
            <a:chExt cx="6580209" cy="4065374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59658A0C-4A43-8F44-B57D-1424404E065E}"/>
                </a:ext>
              </a:extLst>
            </p:cNvPr>
            <p:cNvGrpSpPr/>
            <p:nvPr/>
          </p:nvGrpSpPr>
          <p:grpSpPr>
            <a:xfrm>
              <a:off x="2588772" y="2385204"/>
              <a:ext cx="6580209" cy="4028303"/>
              <a:chOff x="2028803" y="2389426"/>
              <a:chExt cx="7393460" cy="4468574"/>
            </a:xfrm>
          </p:grpSpPr>
          <p:pic>
            <p:nvPicPr>
              <p:cNvPr id="25" name="Image 24">
                <a:extLst>
                  <a:ext uri="{FF2B5EF4-FFF2-40B4-BE49-F238E27FC236}">
                    <a16:creationId xmlns:a16="http://schemas.microsoft.com/office/drawing/2014/main" id="{03B5D82E-C203-2B47-A2C6-51BF72B4D8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28803" y="2389426"/>
                <a:ext cx="7393460" cy="4468574"/>
              </a:xfrm>
              <a:prstGeom prst="rect">
                <a:avLst/>
              </a:prstGeom>
            </p:spPr>
          </p:pic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2CEFD19D-7907-3E44-A071-4E30D96CA347}"/>
                  </a:ext>
                </a:extLst>
              </p:cNvPr>
              <p:cNvSpPr/>
              <p:nvPr/>
            </p:nvSpPr>
            <p:spPr>
              <a:xfrm>
                <a:off x="5152766" y="4819135"/>
                <a:ext cx="1013255" cy="247135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B4C7F124-9998-F549-8673-B9462123C7C0}"/>
                  </a:ext>
                </a:extLst>
              </p:cNvPr>
              <p:cNvSpPr/>
              <p:nvPr/>
            </p:nvSpPr>
            <p:spPr>
              <a:xfrm>
                <a:off x="3665787" y="4819135"/>
                <a:ext cx="1338699" cy="247135"/>
              </a:xfrm>
              <a:prstGeom prst="ellipse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316F740B-AD48-2246-9BEE-AB2E6401B2DB}"/>
                  </a:ext>
                </a:extLst>
              </p:cNvPr>
              <p:cNvSpPr/>
              <p:nvPr/>
            </p:nvSpPr>
            <p:spPr>
              <a:xfrm>
                <a:off x="3702858" y="4430124"/>
                <a:ext cx="1486979" cy="247135"/>
              </a:xfrm>
              <a:prstGeom prst="ellipse">
                <a:avLst/>
              </a:prstGeom>
              <a:noFill/>
              <a:ln w="28575">
                <a:solidFill>
                  <a:srgbClr val="AD4FF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7F4C9E1-104E-294F-98E7-2CECE52A9CA9}"/>
                </a:ext>
              </a:extLst>
            </p:cNvPr>
            <p:cNvSpPr/>
            <p:nvPr/>
          </p:nvSpPr>
          <p:spPr>
            <a:xfrm>
              <a:off x="4016903" y="2422275"/>
              <a:ext cx="2192225" cy="1569660"/>
            </a:xfrm>
            <a:prstGeom prst="ellipse">
              <a:avLst/>
            </a:prstGeom>
            <a:solidFill>
              <a:srgbClr val="AD4FF8">
                <a:alpha val="55000"/>
              </a:srgbClr>
            </a:solidFill>
            <a:ln w="28575">
              <a:solidFill>
                <a:srgbClr val="AD4F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5DC3EA2A-6CDD-974B-9D97-8CDC8AF77524}"/>
                </a:ext>
              </a:extLst>
            </p:cNvPr>
            <p:cNvSpPr/>
            <p:nvPr/>
          </p:nvSpPr>
          <p:spPr>
            <a:xfrm>
              <a:off x="6331077" y="2385204"/>
              <a:ext cx="2690960" cy="1839636"/>
            </a:xfrm>
            <a:prstGeom prst="ellipse">
              <a:avLst/>
            </a:prstGeom>
            <a:solidFill>
              <a:srgbClr val="FF0000">
                <a:alpha val="55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0F5B4537-BA10-1D4A-B900-07F7839864F6}"/>
                </a:ext>
              </a:extLst>
            </p:cNvPr>
            <p:cNvSpPr/>
            <p:nvPr/>
          </p:nvSpPr>
          <p:spPr>
            <a:xfrm>
              <a:off x="3208831" y="4844946"/>
              <a:ext cx="3062082" cy="1605632"/>
            </a:xfrm>
            <a:prstGeom prst="ellipse">
              <a:avLst/>
            </a:prstGeom>
            <a:solidFill>
              <a:srgbClr val="92D050">
                <a:alpha val="55000"/>
              </a:srgb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362072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Le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Schéma d'un WAN</a:t>
            </a:r>
          </a:p>
          <a:p>
            <a:endParaRPr lang="fr-F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 routage est un processus qui permet de </a:t>
            </a:r>
            <a:r>
              <a:rPr lang="fr-FR" sz="24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sélectionner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fr-FR" sz="24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 chemins 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dans un réseau pour transmettre des données depuis un expéditeur jusqu'à un destinataire.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 routage IP est une des fonctionnalités principales de la couche IP 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(couche 3).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 peut distinguer deux types de routage :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Direct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: permet de transférer directement un datagramme (ou paquet)  IP d'une machine à une autre (sur le même LAN).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Indirect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: permet de transmettre un datagramme (ou paquet) IP d'un réseau à un autre (sur un LAN différent).</a:t>
            </a:r>
          </a:p>
          <a:p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3660766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Le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Routage</a:t>
            </a:r>
          </a:p>
          <a:p>
            <a:endParaRPr lang="fr-F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 routage permet de concevoir un chemin pour aller de M7 À M15.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 doit donc déterminer, à chaque routeur, vers quel autre routeur envoyer un datagramme IP en fonction de sa destination finale.</a:t>
            </a:r>
          </a:p>
          <a:p>
            <a:endParaRPr lang="fr-FR" sz="2400" b="1" dirty="0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16285174-BB40-B543-B170-187EFC37B5AC}"/>
              </a:ext>
            </a:extLst>
          </p:cNvPr>
          <p:cNvGrpSpPr/>
          <p:nvPr/>
        </p:nvGrpSpPr>
        <p:grpSpPr>
          <a:xfrm>
            <a:off x="3284615" y="2993857"/>
            <a:ext cx="5681223" cy="3324293"/>
            <a:chOff x="2498529" y="1633964"/>
            <a:chExt cx="8522180" cy="4986642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066BD7B0-86D5-894E-AD50-BAA944200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60816" y="1633964"/>
              <a:ext cx="5700175" cy="4436223"/>
            </a:xfrm>
            <a:prstGeom prst="rect">
              <a:avLst/>
            </a:prstGeom>
          </p:spPr>
        </p:pic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2D270E33-6731-E146-9694-0A2E4C9FA81F}"/>
                </a:ext>
              </a:extLst>
            </p:cNvPr>
            <p:cNvSpPr/>
            <p:nvPr/>
          </p:nvSpPr>
          <p:spPr>
            <a:xfrm>
              <a:off x="4880919" y="5243829"/>
              <a:ext cx="728435" cy="826357"/>
            </a:xfrm>
            <a:prstGeom prst="ellipse">
              <a:avLst/>
            </a:prstGeom>
            <a:solidFill>
              <a:srgbClr val="00B0F0">
                <a:alpha val="55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323E7035-ABA7-E342-9357-6B1BB28CB7BE}"/>
                </a:ext>
              </a:extLst>
            </p:cNvPr>
            <p:cNvSpPr txBox="1"/>
            <p:nvPr/>
          </p:nvSpPr>
          <p:spPr>
            <a:xfrm>
              <a:off x="2498529" y="5374060"/>
              <a:ext cx="1125970" cy="1246546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00B0F0"/>
                  </a:solidFill>
                </a:rPr>
                <a:t>PC</a:t>
              </a:r>
            </a:p>
            <a:p>
              <a:r>
                <a:rPr lang="fr-FR" sz="2400" dirty="0">
                  <a:solidFill>
                    <a:srgbClr val="00B0F0"/>
                  </a:solidFill>
                </a:rPr>
                <a:t>M7</a:t>
              </a:r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7AA4FB69-D1B2-D848-8835-F5F6721860EA}"/>
                </a:ext>
              </a:extLst>
            </p:cNvPr>
            <p:cNvSpPr/>
            <p:nvPr/>
          </p:nvSpPr>
          <p:spPr>
            <a:xfrm>
              <a:off x="7589781" y="1907406"/>
              <a:ext cx="728435" cy="826357"/>
            </a:xfrm>
            <a:prstGeom prst="ellipse">
              <a:avLst/>
            </a:prstGeom>
            <a:solidFill>
              <a:srgbClr val="92D050">
                <a:alpha val="55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37D5D634-D70D-5042-BB4F-E22AD441017C}"/>
                </a:ext>
              </a:extLst>
            </p:cNvPr>
            <p:cNvSpPr txBox="1"/>
            <p:nvPr/>
          </p:nvSpPr>
          <p:spPr>
            <a:xfrm>
              <a:off x="9862092" y="2086310"/>
              <a:ext cx="1158617" cy="1246546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92D050"/>
                  </a:solidFill>
                </a:rPr>
                <a:t>PC</a:t>
              </a:r>
            </a:p>
            <a:p>
              <a:r>
                <a:rPr lang="fr-FR" sz="2400" dirty="0">
                  <a:solidFill>
                    <a:srgbClr val="92D050"/>
                  </a:solidFill>
                </a:rPr>
                <a:t>M15</a:t>
              </a:r>
            </a:p>
          </p:txBody>
        </p: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F3BA7D96-FDA6-234B-96F5-A959AA3AD1F9}"/>
                </a:ext>
              </a:extLst>
            </p:cNvPr>
            <p:cNvCxnSpPr>
              <a:cxnSpLocks/>
            </p:cNvCxnSpPr>
            <p:nvPr/>
          </p:nvCxnSpPr>
          <p:spPr>
            <a:xfrm>
              <a:off x="3703271" y="5604894"/>
              <a:ext cx="1125969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19FC3EC0-E8AF-2548-9D20-9C9BA58156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1770" y="2317143"/>
              <a:ext cx="1256766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0885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Le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Modèle OSI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 routeur est le matériel de la </a:t>
            </a:r>
            <a:r>
              <a:rPr lang="fr-FR" sz="24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couche 3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du modèle OSI : son rôle va être d'aiguiller les paquets reçus entre les différents réseaux.</a:t>
            </a:r>
          </a:p>
          <a:p>
            <a:endParaRPr lang="fr-FR" sz="2400" b="1" dirty="0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9ADB2597-E29F-5B44-82A1-9DEDFA5132C2}"/>
              </a:ext>
            </a:extLst>
          </p:cNvPr>
          <p:cNvGrpSpPr/>
          <p:nvPr/>
        </p:nvGrpSpPr>
        <p:grpSpPr>
          <a:xfrm>
            <a:off x="720514" y="2737024"/>
            <a:ext cx="10196348" cy="3006708"/>
            <a:chOff x="1067033" y="3295240"/>
            <a:chExt cx="10196348" cy="3006708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6D373D8A-3B1A-F441-94D6-F16CA51D1A53}"/>
                </a:ext>
              </a:extLst>
            </p:cNvPr>
            <p:cNvGrpSpPr/>
            <p:nvPr/>
          </p:nvGrpSpPr>
          <p:grpSpPr>
            <a:xfrm>
              <a:off x="3117359" y="3295240"/>
              <a:ext cx="8146022" cy="3006708"/>
              <a:chOff x="3210098" y="3448767"/>
              <a:chExt cx="8146022" cy="3006708"/>
            </a:xfrm>
          </p:grpSpPr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EAA18ED3-02A6-FA46-A20B-CD028DFD0DC6}"/>
                  </a:ext>
                </a:extLst>
              </p:cNvPr>
              <p:cNvSpPr txBox="1"/>
              <p:nvPr/>
            </p:nvSpPr>
            <p:spPr>
              <a:xfrm>
                <a:off x="3441323" y="4149130"/>
                <a:ext cx="457200" cy="501848"/>
              </a:xfrm>
              <a:prstGeom prst="roundRect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4</a:t>
                </a:r>
              </a:p>
            </p:txBody>
          </p:sp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720BE397-65AA-6A48-B7BB-0262D619A565}"/>
                  </a:ext>
                </a:extLst>
              </p:cNvPr>
              <p:cNvSpPr txBox="1"/>
              <p:nvPr/>
            </p:nvSpPr>
            <p:spPr>
              <a:xfrm>
                <a:off x="3441323" y="4748683"/>
                <a:ext cx="457200" cy="501848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3</a:t>
                </a:r>
              </a:p>
            </p:txBody>
          </p:sp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684F55D-0D41-194F-B8C6-479E152FA9A1}"/>
                  </a:ext>
                </a:extLst>
              </p:cNvPr>
              <p:cNvSpPr txBox="1"/>
              <p:nvPr/>
            </p:nvSpPr>
            <p:spPr>
              <a:xfrm>
                <a:off x="3441323" y="5374362"/>
                <a:ext cx="457200" cy="501848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2</a:t>
                </a:r>
              </a:p>
            </p:txBody>
          </p:sp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25AE347C-8EA6-4A40-82F9-23592A34B7AB}"/>
                  </a:ext>
                </a:extLst>
              </p:cNvPr>
              <p:cNvSpPr txBox="1"/>
              <p:nvPr/>
            </p:nvSpPr>
            <p:spPr>
              <a:xfrm>
                <a:off x="3441323" y="5947787"/>
                <a:ext cx="457200" cy="501848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1</a:t>
                </a:r>
              </a:p>
            </p:txBody>
          </p:sp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BEF24FD8-95B6-6C4F-A06F-D573F44D5798}"/>
                  </a:ext>
                </a:extLst>
              </p:cNvPr>
              <p:cNvSpPr txBox="1"/>
              <p:nvPr/>
            </p:nvSpPr>
            <p:spPr>
              <a:xfrm>
                <a:off x="4256420" y="3535869"/>
                <a:ext cx="1709129" cy="510778"/>
              </a:xfrm>
              <a:prstGeom prst="roundRect">
                <a:avLst/>
              </a:prstGeom>
              <a:solidFill>
                <a:schemeClr val="accent5">
                  <a:lumMod val="50000"/>
                  <a:alpha val="5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fr-FR" sz="2400" dirty="0"/>
                  <a:t>Application</a:t>
                </a:r>
              </a:p>
            </p:txBody>
          </p:sp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B1A12484-1775-E245-9922-40EB42B35F75}"/>
                  </a:ext>
                </a:extLst>
              </p:cNvPr>
              <p:cNvSpPr txBox="1"/>
              <p:nvPr/>
            </p:nvSpPr>
            <p:spPr>
              <a:xfrm>
                <a:off x="4256420" y="4145973"/>
                <a:ext cx="1709129" cy="510778"/>
              </a:xfrm>
              <a:prstGeom prst="roundRect">
                <a:avLst/>
              </a:prstGeom>
              <a:solidFill>
                <a:schemeClr val="accent5">
                  <a:lumMod val="50000"/>
                  <a:alpha val="5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Transport</a:t>
                </a:r>
              </a:p>
            </p:txBody>
          </p:sp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071773EC-5D66-524F-B8AE-99BC7C409BE3}"/>
                  </a:ext>
                </a:extLst>
              </p:cNvPr>
              <p:cNvSpPr txBox="1"/>
              <p:nvPr/>
            </p:nvSpPr>
            <p:spPr>
              <a:xfrm>
                <a:off x="4256420" y="4770695"/>
                <a:ext cx="1709129" cy="51077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Internet</a:t>
                </a:r>
              </a:p>
            </p:txBody>
          </p:sp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F9FCC911-9CA7-D640-BA6D-7D3909A8C2A9}"/>
                  </a:ext>
                </a:extLst>
              </p:cNvPr>
              <p:cNvSpPr txBox="1"/>
              <p:nvPr/>
            </p:nvSpPr>
            <p:spPr>
              <a:xfrm>
                <a:off x="4256420" y="5408821"/>
                <a:ext cx="1709129" cy="104665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fr-FR" sz="2400" dirty="0"/>
                  <a:t>Accès réseau</a:t>
                </a:r>
              </a:p>
            </p:txBody>
          </p:sp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1CDB252C-204D-264F-A691-9858FC80101C}"/>
                  </a:ext>
                </a:extLst>
              </p:cNvPr>
              <p:cNvGrpSpPr/>
              <p:nvPr/>
            </p:nvGrpSpPr>
            <p:grpSpPr>
              <a:xfrm>
                <a:off x="6092741" y="3797094"/>
                <a:ext cx="570645" cy="2395099"/>
                <a:chOff x="3301361" y="3904049"/>
                <a:chExt cx="804659" cy="2395099"/>
              </a:xfrm>
            </p:grpSpPr>
            <p:cxnSp>
              <p:nvCxnSpPr>
                <p:cNvPr id="36" name="Connecteur droit avec flèche 35">
                  <a:extLst>
                    <a:ext uri="{FF2B5EF4-FFF2-40B4-BE49-F238E27FC236}">
                      <a16:creationId xmlns:a16="http://schemas.microsoft.com/office/drawing/2014/main" id="{0AB277D8-BF2F-C94B-A285-0E62163185A8}"/>
                    </a:ext>
                  </a:extLst>
                </p:cNvPr>
                <p:cNvCxnSpPr/>
                <p:nvPr/>
              </p:nvCxnSpPr>
              <p:spPr>
                <a:xfrm>
                  <a:off x="3301366" y="3904049"/>
                  <a:ext cx="80465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lg" len="lg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Connecteur droit avec flèche 36">
                  <a:extLst>
                    <a:ext uri="{FF2B5EF4-FFF2-40B4-BE49-F238E27FC236}">
                      <a16:creationId xmlns:a16="http://schemas.microsoft.com/office/drawing/2014/main" id="{8B51DFCC-B03E-1941-B365-29C8325B2713}"/>
                    </a:ext>
                  </a:extLst>
                </p:cNvPr>
                <p:cNvCxnSpPr/>
                <p:nvPr/>
              </p:nvCxnSpPr>
              <p:spPr>
                <a:xfrm>
                  <a:off x="3301361" y="4541217"/>
                  <a:ext cx="804653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lg" len="lg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necteur droit avec flèche 37">
                  <a:extLst>
                    <a:ext uri="{FF2B5EF4-FFF2-40B4-BE49-F238E27FC236}">
                      <a16:creationId xmlns:a16="http://schemas.microsoft.com/office/drawing/2014/main" id="{9A18370F-7AC1-BA44-9304-C3F2E246B4CA}"/>
                    </a:ext>
                  </a:extLst>
                </p:cNvPr>
                <p:cNvCxnSpPr/>
                <p:nvPr/>
              </p:nvCxnSpPr>
              <p:spPr>
                <a:xfrm>
                  <a:off x="3301361" y="5160646"/>
                  <a:ext cx="80465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lg" len="lg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necteur droit avec flèche 38">
                  <a:extLst>
                    <a:ext uri="{FF2B5EF4-FFF2-40B4-BE49-F238E27FC236}">
                      <a16:creationId xmlns:a16="http://schemas.microsoft.com/office/drawing/2014/main" id="{C605B79D-3710-A34F-BCA8-E067EDC40E49}"/>
                    </a:ext>
                  </a:extLst>
                </p:cNvPr>
                <p:cNvCxnSpPr/>
                <p:nvPr/>
              </p:nvCxnSpPr>
              <p:spPr>
                <a:xfrm>
                  <a:off x="3301361" y="5709885"/>
                  <a:ext cx="80465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lg" len="lg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necteur droit avec flèche 39">
                  <a:extLst>
                    <a:ext uri="{FF2B5EF4-FFF2-40B4-BE49-F238E27FC236}">
                      <a16:creationId xmlns:a16="http://schemas.microsoft.com/office/drawing/2014/main" id="{810EE36F-5D19-D541-82BD-F8815621F37A}"/>
                    </a:ext>
                  </a:extLst>
                </p:cNvPr>
                <p:cNvCxnSpPr/>
                <p:nvPr/>
              </p:nvCxnSpPr>
              <p:spPr>
                <a:xfrm>
                  <a:off x="3301361" y="6299148"/>
                  <a:ext cx="80465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lg" len="lg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89269A16-E3AF-7F48-9E7B-7A17F380868D}"/>
                  </a:ext>
                </a:extLst>
              </p:cNvPr>
              <p:cNvSpPr txBox="1"/>
              <p:nvPr/>
            </p:nvSpPr>
            <p:spPr>
              <a:xfrm>
                <a:off x="3210098" y="3535869"/>
                <a:ext cx="906956" cy="510778"/>
              </a:xfrm>
              <a:prstGeom prst="roundRect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5,6,7</a:t>
                </a:r>
              </a:p>
            </p:txBody>
          </p:sp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A5DB2805-3CBB-5446-B3DA-AFC94000166C}"/>
                  </a:ext>
                </a:extLst>
              </p:cNvPr>
              <p:cNvSpPr txBox="1"/>
              <p:nvPr/>
            </p:nvSpPr>
            <p:spPr>
              <a:xfrm>
                <a:off x="6827161" y="4145973"/>
                <a:ext cx="1919857" cy="510778"/>
              </a:xfrm>
              <a:prstGeom prst="roundRect">
                <a:avLst/>
              </a:prstGeom>
              <a:solidFill>
                <a:schemeClr val="accent2">
                  <a:lumMod val="50000"/>
                  <a:alpha val="5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TCP</a:t>
                </a: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2B5138EF-B863-BA46-BDC2-7B2420E4E577}"/>
                  </a:ext>
                </a:extLst>
              </p:cNvPr>
              <p:cNvSpPr txBox="1"/>
              <p:nvPr/>
            </p:nvSpPr>
            <p:spPr>
              <a:xfrm>
                <a:off x="6827161" y="4770695"/>
                <a:ext cx="1919857" cy="51077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IP</a:t>
                </a:r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9330D862-9884-B14B-B312-F5BA96F2F9C8}"/>
                  </a:ext>
                </a:extLst>
              </p:cNvPr>
              <p:cNvSpPr txBox="1"/>
              <p:nvPr/>
            </p:nvSpPr>
            <p:spPr>
              <a:xfrm>
                <a:off x="6827161" y="5408821"/>
                <a:ext cx="1919857" cy="104665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fr-FR" sz="2400" dirty="0"/>
                  <a:t>Ethernet</a:t>
                </a:r>
              </a:p>
            </p:txBody>
          </p:sp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F9E46F8E-EE50-5C46-9350-B167CD2D6E8B}"/>
                  </a:ext>
                </a:extLst>
              </p:cNvPr>
              <p:cNvSpPr txBox="1"/>
              <p:nvPr/>
            </p:nvSpPr>
            <p:spPr>
              <a:xfrm>
                <a:off x="6806998" y="3487703"/>
                <a:ext cx="1919857" cy="510778"/>
              </a:xfrm>
              <a:prstGeom prst="roundRect">
                <a:avLst/>
              </a:prstGeom>
              <a:solidFill>
                <a:schemeClr val="accent2">
                  <a:lumMod val="50000"/>
                  <a:alpha val="50000"/>
                </a:schemeClr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HTTP, FTP…</a:t>
                </a:r>
              </a:p>
            </p:txBody>
          </p:sp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14C9CB32-24DA-F246-B340-0A7F745CE0F1}"/>
                  </a:ext>
                </a:extLst>
              </p:cNvPr>
              <p:cNvSpPr txBox="1"/>
              <p:nvPr/>
            </p:nvSpPr>
            <p:spPr>
              <a:xfrm>
                <a:off x="9353326" y="3448767"/>
                <a:ext cx="2002794" cy="545058"/>
              </a:xfrm>
              <a:prstGeom prst="roundRect">
                <a:avLst/>
              </a:prstGeom>
              <a:solidFill>
                <a:srgbClr val="AB670D"/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fr-FR" sz="2400" dirty="0"/>
                  <a:t>Données</a:t>
                </a:r>
              </a:p>
            </p:txBody>
          </p:sp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44A3AF5E-0056-5B47-961B-E47BBA807B33}"/>
                  </a:ext>
                </a:extLst>
              </p:cNvPr>
              <p:cNvSpPr txBox="1"/>
              <p:nvPr/>
            </p:nvSpPr>
            <p:spPr>
              <a:xfrm>
                <a:off x="9353326" y="4145847"/>
                <a:ext cx="2002794" cy="510778"/>
              </a:xfrm>
              <a:prstGeom prst="roundRect">
                <a:avLst/>
              </a:prstGeom>
              <a:solidFill>
                <a:srgbClr val="AB670D"/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Segments</a:t>
                </a:r>
              </a:p>
            </p:txBody>
          </p:sp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4ADB44C5-0943-D94B-BBB7-2353AB2AA975}"/>
                  </a:ext>
                </a:extLst>
              </p:cNvPr>
              <p:cNvSpPr txBox="1"/>
              <p:nvPr/>
            </p:nvSpPr>
            <p:spPr>
              <a:xfrm>
                <a:off x="9353326" y="4753560"/>
                <a:ext cx="2002794" cy="510778"/>
              </a:xfrm>
              <a:prstGeom prst="roundRect">
                <a:avLst/>
              </a:prstGeom>
              <a:solidFill>
                <a:srgbClr val="F9D68F"/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Paquets</a:t>
                </a:r>
              </a:p>
            </p:txBody>
          </p:sp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F1479C8B-A903-D648-98FA-8AFCD20A1C72}"/>
                  </a:ext>
                </a:extLst>
              </p:cNvPr>
              <p:cNvSpPr txBox="1"/>
              <p:nvPr/>
            </p:nvSpPr>
            <p:spPr>
              <a:xfrm>
                <a:off x="9353326" y="5356510"/>
                <a:ext cx="2002794" cy="510778"/>
              </a:xfrm>
              <a:prstGeom prst="roundRect">
                <a:avLst/>
              </a:prstGeom>
              <a:solidFill>
                <a:srgbClr val="F9D68F"/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Trames</a:t>
                </a:r>
              </a:p>
            </p:txBody>
          </p:sp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164C3C5F-8912-4B40-888D-66454113A906}"/>
                  </a:ext>
                </a:extLst>
              </p:cNvPr>
              <p:cNvSpPr txBox="1"/>
              <p:nvPr/>
            </p:nvSpPr>
            <p:spPr>
              <a:xfrm>
                <a:off x="9353326" y="5929934"/>
                <a:ext cx="2002794" cy="510778"/>
              </a:xfrm>
              <a:prstGeom prst="roundRect">
                <a:avLst/>
              </a:prstGeom>
              <a:solidFill>
                <a:srgbClr val="F9D68F"/>
              </a:solidFill>
              <a:ln w="12700">
                <a:solidFill>
                  <a:srgbClr val="FF020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/>
                  <a:t>Bits</a:t>
                </a:r>
              </a:p>
            </p:txBody>
          </p:sp>
          <p:cxnSp>
            <p:nvCxnSpPr>
              <p:cNvPr id="31" name="Connecteur droit avec flèche 30">
                <a:extLst>
                  <a:ext uri="{FF2B5EF4-FFF2-40B4-BE49-F238E27FC236}">
                    <a16:creationId xmlns:a16="http://schemas.microsoft.com/office/drawing/2014/main" id="{BA35AEA8-7E59-DC49-94B6-775F3C0702EA}"/>
                  </a:ext>
                </a:extLst>
              </p:cNvPr>
              <p:cNvCxnSpPr/>
              <p:nvPr/>
            </p:nvCxnSpPr>
            <p:spPr>
              <a:xfrm>
                <a:off x="8835094" y="3790254"/>
                <a:ext cx="45720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necteur droit avec flèche 31">
                <a:extLst>
                  <a:ext uri="{FF2B5EF4-FFF2-40B4-BE49-F238E27FC236}">
                    <a16:creationId xmlns:a16="http://schemas.microsoft.com/office/drawing/2014/main" id="{022BEA02-ECB6-1541-80F3-A776F78C9479}"/>
                  </a:ext>
                </a:extLst>
              </p:cNvPr>
              <p:cNvCxnSpPr/>
              <p:nvPr/>
            </p:nvCxnSpPr>
            <p:spPr>
              <a:xfrm>
                <a:off x="8835094" y="4376679"/>
                <a:ext cx="45720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eur droit avec flèche 32">
                <a:extLst>
                  <a:ext uri="{FF2B5EF4-FFF2-40B4-BE49-F238E27FC236}">
                    <a16:creationId xmlns:a16="http://schemas.microsoft.com/office/drawing/2014/main" id="{5E146484-F848-5E41-92B0-60FB125DACC7}"/>
                  </a:ext>
                </a:extLst>
              </p:cNvPr>
              <p:cNvCxnSpPr/>
              <p:nvPr/>
            </p:nvCxnSpPr>
            <p:spPr>
              <a:xfrm>
                <a:off x="8835094" y="5007053"/>
                <a:ext cx="45720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necteur droit avec flèche 33">
                <a:extLst>
                  <a:ext uri="{FF2B5EF4-FFF2-40B4-BE49-F238E27FC236}">
                    <a16:creationId xmlns:a16="http://schemas.microsoft.com/office/drawing/2014/main" id="{42F5282E-C22F-C948-B36E-591588F2D215}"/>
                  </a:ext>
                </a:extLst>
              </p:cNvPr>
              <p:cNvCxnSpPr/>
              <p:nvPr/>
            </p:nvCxnSpPr>
            <p:spPr>
              <a:xfrm>
                <a:off x="8835094" y="5556292"/>
                <a:ext cx="45720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necteur droit avec flèche 34">
                <a:extLst>
                  <a:ext uri="{FF2B5EF4-FFF2-40B4-BE49-F238E27FC236}">
                    <a16:creationId xmlns:a16="http://schemas.microsoft.com/office/drawing/2014/main" id="{FCE4F733-F546-9F4D-A0A9-B2CD7C74426B}"/>
                  </a:ext>
                </a:extLst>
              </p:cNvPr>
              <p:cNvCxnSpPr/>
              <p:nvPr/>
            </p:nvCxnSpPr>
            <p:spPr>
              <a:xfrm>
                <a:off x="8835094" y="6145555"/>
                <a:ext cx="45720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sm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Connecteur droit avec flèche 9">
              <a:extLst>
                <a:ext uri="{FF2B5EF4-FFF2-40B4-BE49-F238E27FC236}">
                  <a16:creationId xmlns:a16="http://schemas.microsoft.com/office/drawing/2014/main" id="{CA2898B9-C20B-2346-8451-A837E2C41EE2}"/>
                </a:ext>
              </a:extLst>
            </p:cNvPr>
            <p:cNvCxnSpPr>
              <a:cxnSpLocks/>
            </p:cNvCxnSpPr>
            <p:nvPr/>
          </p:nvCxnSpPr>
          <p:spPr>
            <a:xfrm>
              <a:off x="2490529" y="4872557"/>
              <a:ext cx="750565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0C76A666-F646-CB42-BA9F-B4C9A9754514}"/>
                </a:ext>
              </a:extLst>
            </p:cNvPr>
            <p:cNvSpPr txBox="1"/>
            <p:nvPr/>
          </p:nvSpPr>
          <p:spPr>
            <a:xfrm>
              <a:off x="1067033" y="4657338"/>
              <a:ext cx="1325023" cy="461665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rgbClr val="0070C0"/>
                  </a:solidFill>
                </a:rPr>
                <a:t>Routage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6402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Le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" name="Groupe 7">
            <a:extLst>
              <a:ext uri="{FF2B5EF4-FFF2-40B4-BE49-F238E27FC236}">
                <a16:creationId xmlns:a16="http://schemas.microsoft.com/office/drawing/2014/main" id="{1522058D-332B-F945-8FE2-80769FAF00D0}"/>
              </a:ext>
            </a:extLst>
          </p:cNvPr>
          <p:cNvGrpSpPr/>
          <p:nvPr/>
        </p:nvGrpSpPr>
        <p:grpSpPr>
          <a:xfrm>
            <a:off x="478529" y="1635273"/>
            <a:ext cx="11119936" cy="4423409"/>
            <a:chOff x="1002995" y="1698336"/>
            <a:chExt cx="11119936" cy="4423409"/>
          </a:xfrm>
        </p:grpSpPr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4160F75A-A0B3-6743-A2D4-FCDA037CD3F5}"/>
                </a:ext>
              </a:extLst>
            </p:cNvPr>
            <p:cNvSpPr txBox="1"/>
            <p:nvPr/>
          </p:nvSpPr>
          <p:spPr>
            <a:xfrm>
              <a:off x="1002995" y="2577172"/>
              <a:ext cx="906956" cy="510778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5,6,7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BFD09304-04DF-AB40-8620-099367B919DA}"/>
                </a:ext>
              </a:extLst>
            </p:cNvPr>
            <p:cNvSpPr txBox="1"/>
            <p:nvPr/>
          </p:nvSpPr>
          <p:spPr>
            <a:xfrm>
              <a:off x="1236706" y="3187276"/>
              <a:ext cx="457200" cy="501848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4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6B94EB5C-604B-5B42-95C7-9DD75E027B20}"/>
                </a:ext>
              </a:extLst>
            </p:cNvPr>
            <p:cNvSpPr txBox="1"/>
            <p:nvPr/>
          </p:nvSpPr>
          <p:spPr>
            <a:xfrm>
              <a:off x="1227873" y="3794439"/>
              <a:ext cx="457200" cy="501848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3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686F9952-49AD-144E-89D4-F4C2D5E8C275}"/>
                </a:ext>
              </a:extLst>
            </p:cNvPr>
            <p:cNvSpPr txBox="1"/>
            <p:nvPr/>
          </p:nvSpPr>
          <p:spPr>
            <a:xfrm>
              <a:off x="1227873" y="4385426"/>
              <a:ext cx="457200" cy="501848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2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B846F80B-1817-9C48-A1FC-A325A5E6B956}"/>
                </a:ext>
              </a:extLst>
            </p:cNvPr>
            <p:cNvSpPr txBox="1"/>
            <p:nvPr/>
          </p:nvSpPr>
          <p:spPr>
            <a:xfrm>
              <a:off x="1227873" y="4958851"/>
              <a:ext cx="457200" cy="501848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1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0D0843B8-AF61-8D46-A867-8542270ECFDB}"/>
                </a:ext>
              </a:extLst>
            </p:cNvPr>
            <p:cNvSpPr txBox="1"/>
            <p:nvPr/>
          </p:nvSpPr>
          <p:spPr>
            <a:xfrm>
              <a:off x="2429120" y="2626285"/>
              <a:ext cx="1762847" cy="46166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dirty="0"/>
                <a:t>Application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A2F81F6F-BC0F-684D-94F2-A9A3313B146F}"/>
                </a:ext>
              </a:extLst>
            </p:cNvPr>
            <p:cNvSpPr txBox="1"/>
            <p:nvPr/>
          </p:nvSpPr>
          <p:spPr>
            <a:xfrm>
              <a:off x="2429120" y="3187277"/>
              <a:ext cx="1762847" cy="51077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Transport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601E755D-9907-F645-955B-DE447316AEA1}"/>
                </a:ext>
              </a:extLst>
            </p:cNvPr>
            <p:cNvSpPr txBox="1"/>
            <p:nvPr/>
          </p:nvSpPr>
          <p:spPr>
            <a:xfrm>
              <a:off x="2429120" y="3811999"/>
              <a:ext cx="1762847" cy="51077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Internet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787FC3CE-FF88-B345-B995-E2E13E3AA4A9}"/>
                </a:ext>
              </a:extLst>
            </p:cNvPr>
            <p:cNvSpPr txBox="1"/>
            <p:nvPr/>
          </p:nvSpPr>
          <p:spPr>
            <a:xfrm>
              <a:off x="2429120" y="4450125"/>
              <a:ext cx="1762847" cy="101950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dirty="0"/>
                <a:t>Accès réseau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1E30336C-C94B-C942-923E-D288924C68CC}"/>
                </a:ext>
              </a:extLst>
            </p:cNvPr>
            <p:cNvSpPr txBox="1"/>
            <p:nvPr/>
          </p:nvSpPr>
          <p:spPr>
            <a:xfrm>
              <a:off x="9939709" y="2568241"/>
              <a:ext cx="1762847" cy="510779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dirty="0"/>
                <a:t>Application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219B61D2-6D12-AC42-B2E3-67F226B33FD2}"/>
                </a:ext>
              </a:extLst>
            </p:cNvPr>
            <p:cNvSpPr txBox="1"/>
            <p:nvPr/>
          </p:nvSpPr>
          <p:spPr>
            <a:xfrm>
              <a:off x="9939709" y="3178347"/>
              <a:ext cx="1762847" cy="51077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Transport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10914E88-413E-1B43-89E6-791FB8589714}"/>
                </a:ext>
              </a:extLst>
            </p:cNvPr>
            <p:cNvSpPr txBox="1"/>
            <p:nvPr/>
          </p:nvSpPr>
          <p:spPr>
            <a:xfrm>
              <a:off x="9939709" y="3803069"/>
              <a:ext cx="1762847" cy="51077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Internet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84FBE2C1-E0DD-874F-A92E-A1250BF2D42B}"/>
                </a:ext>
              </a:extLst>
            </p:cNvPr>
            <p:cNvSpPr txBox="1"/>
            <p:nvPr/>
          </p:nvSpPr>
          <p:spPr>
            <a:xfrm>
              <a:off x="9939709" y="4441195"/>
              <a:ext cx="1762847" cy="101950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dirty="0"/>
                <a:t>Accès réseau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11CC35FE-272B-744D-B5A9-8845174F09D4}"/>
                </a:ext>
              </a:extLst>
            </p:cNvPr>
            <p:cNvSpPr txBox="1"/>
            <p:nvPr/>
          </p:nvSpPr>
          <p:spPr>
            <a:xfrm>
              <a:off x="4803025" y="3810973"/>
              <a:ext cx="1762847" cy="510778"/>
            </a:xfrm>
            <a:prstGeom prst="roundRect">
              <a:avLst/>
            </a:prstGeom>
            <a:solidFill>
              <a:srgbClr val="1BECFF"/>
            </a:solidFill>
            <a:ln w="12700">
              <a:solidFill>
                <a:srgbClr val="FF020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Internet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0F0CD9A4-D612-9D44-AAAC-F71D80866095}"/>
                </a:ext>
              </a:extLst>
            </p:cNvPr>
            <p:cNvSpPr txBox="1"/>
            <p:nvPr/>
          </p:nvSpPr>
          <p:spPr>
            <a:xfrm>
              <a:off x="4803025" y="4449099"/>
              <a:ext cx="1762847" cy="1019503"/>
            </a:xfrm>
            <a:prstGeom prst="roundRect">
              <a:avLst/>
            </a:prstGeom>
            <a:solidFill>
              <a:srgbClr val="1BECFF"/>
            </a:solidFill>
            <a:ln w="12700">
              <a:solidFill>
                <a:srgbClr val="FF0208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dirty="0"/>
                <a:t>Accès réseau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9F733D7A-83DF-F84F-81D3-DAEF720F5814}"/>
                </a:ext>
              </a:extLst>
            </p:cNvPr>
            <p:cNvSpPr txBox="1"/>
            <p:nvPr/>
          </p:nvSpPr>
          <p:spPr>
            <a:xfrm>
              <a:off x="7565804" y="3803069"/>
              <a:ext cx="1762847" cy="51077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Internet</a:t>
              </a:r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FFE7B580-EAA5-AD42-85B6-B482F55B2749}"/>
                </a:ext>
              </a:extLst>
            </p:cNvPr>
            <p:cNvSpPr txBox="1"/>
            <p:nvPr/>
          </p:nvSpPr>
          <p:spPr>
            <a:xfrm>
              <a:off x="7565804" y="4441195"/>
              <a:ext cx="1762847" cy="101950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rgbClr val="FF0208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dirty="0"/>
                <a:t>Accès réseau</a:t>
              </a:r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454D84E0-61A5-274C-B5EC-2949A9FF934E}"/>
                </a:ext>
              </a:extLst>
            </p:cNvPr>
            <p:cNvSpPr txBox="1"/>
            <p:nvPr/>
          </p:nvSpPr>
          <p:spPr>
            <a:xfrm>
              <a:off x="2259508" y="1731614"/>
              <a:ext cx="21020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Ordinateur source</a:t>
              </a:r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0509473C-1F98-E043-9660-A8E988EFF7EC}"/>
                </a:ext>
              </a:extLst>
            </p:cNvPr>
            <p:cNvSpPr txBox="1"/>
            <p:nvPr/>
          </p:nvSpPr>
          <p:spPr>
            <a:xfrm>
              <a:off x="9770097" y="1698336"/>
              <a:ext cx="21020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Ordinateur destination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F0B3032E-6FBF-EC4E-BD4E-9B3D89795D99}"/>
                </a:ext>
              </a:extLst>
            </p:cNvPr>
            <p:cNvSpPr txBox="1"/>
            <p:nvPr/>
          </p:nvSpPr>
          <p:spPr>
            <a:xfrm>
              <a:off x="4633413" y="5595950"/>
              <a:ext cx="210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rgbClr val="1BECFF"/>
                  </a:solidFill>
                </a:rPr>
                <a:t>Routeur 1</a:t>
              </a:r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7A5A21B0-0022-D24B-AB80-3CC63E274613}"/>
                </a:ext>
              </a:extLst>
            </p:cNvPr>
            <p:cNvSpPr txBox="1"/>
            <p:nvPr/>
          </p:nvSpPr>
          <p:spPr>
            <a:xfrm>
              <a:off x="7396192" y="5595950"/>
              <a:ext cx="2102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Routeur 2</a:t>
              </a:r>
            </a:p>
          </p:txBody>
        </p:sp>
        <p:sp>
          <p:nvSpPr>
            <p:cNvPr id="30" name="Flèche droite rayée 29">
              <a:extLst>
                <a:ext uri="{FF2B5EF4-FFF2-40B4-BE49-F238E27FC236}">
                  <a16:creationId xmlns:a16="http://schemas.microsoft.com/office/drawing/2014/main" id="{69B3010B-1F6A-154A-9D1E-FB78EFB7702A}"/>
                </a:ext>
              </a:extLst>
            </p:cNvPr>
            <p:cNvSpPr/>
            <p:nvPr/>
          </p:nvSpPr>
          <p:spPr>
            <a:xfrm rot="5400000">
              <a:off x="588995" y="4307923"/>
              <a:ext cx="3233986" cy="265401"/>
            </a:xfrm>
            <a:prstGeom prst="stripedRightArrow">
              <a:avLst>
                <a:gd name="adj1" fmla="val 50000"/>
                <a:gd name="adj2" fmla="val 152964"/>
              </a:avLst>
            </a:prstGeom>
            <a:solidFill>
              <a:srgbClr val="FFFF00">
                <a:alpha val="56000"/>
              </a:srgb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Flèche droite rayée 30">
              <a:extLst>
                <a:ext uri="{FF2B5EF4-FFF2-40B4-BE49-F238E27FC236}">
                  <a16:creationId xmlns:a16="http://schemas.microsoft.com/office/drawing/2014/main" id="{96526F47-6746-104E-8627-5FB1EEE035E0}"/>
                </a:ext>
              </a:extLst>
            </p:cNvPr>
            <p:cNvSpPr/>
            <p:nvPr/>
          </p:nvSpPr>
          <p:spPr>
            <a:xfrm rot="16200000">
              <a:off x="3447052" y="4719320"/>
              <a:ext cx="2325791" cy="265401"/>
            </a:xfrm>
            <a:prstGeom prst="stripedRightArrow">
              <a:avLst>
                <a:gd name="adj1" fmla="val 50000"/>
                <a:gd name="adj2" fmla="val 152964"/>
              </a:avLst>
            </a:prstGeom>
            <a:solidFill>
              <a:srgbClr val="FFFF00">
                <a:alpha val="56000"/>
              </a:srgb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Flèche droite rayée 31">
              <a:extLst>
                <a:ext uri="{FF2B5EF4-FFF2-40B4-BE49-F238E27FC236}">
                  <a16:creationId xmlns:a16="http://schemas.microsoft.com/office/drawing/2014/main" id="{0567C4FE-D3C4-6249-BAC6-CBCD33A83A5F}"/>
                </a:ext>
              </a:extLst>
            </p:cNvPr>
            <p:cNvSpPr/>
            <p:nvPr/>
          </p:nvSpPr>
          <p:spPr>
            <a:xfrm rot="5400000">
              <a:off x="5501464" y="4826149"/>
              <a:ext cx="2325791" cy="265401"/>
            </a:xfrm>
            <a:prstGeom prst="stripedRightArrow">
              <a:avLst>
                <a:gd name="adj1" fmla="val 50000"/>
                <a:gd name="adj2" fmla="val 152964"/>
              </a:avLst>
            </a:prstGeom>
            <a:solidFill>
              <a:srgbClr val="FFFF00">
                <a:alpha val="56000"/>
              </a:srgb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Flèche droite rayée 32">
              <a:extLst>
                <a:ext uri="{FF2B5EF4-FFF2-40B4-BE49-F238E27FC236}">
                  <a16:creationId xmlns:a16="http://schemas.microsoft.com/office/drawing/2014/main" id="{09197D89-0573-5C41-AB2C-01DB857200CA}"/>
                </a:ext>
              </a:extLst>
            </p:cNvPr>
            <p:cNvSpPr/>
            <p:nvPr/>
          </p:nvSpPr>
          <p:spPr>
            <a:xfrm rot="16200000">
              <a:off x="6241357" y="4728250"/>
              <a:ext cx="2325791" cy="265401"/>
            </a:xfrm>
            <a:prstGeom prst="stripedRightArrow">
              <a:avLst>
                <a:gd name="adj1" fmla="val 50000"/>
                <a:gd name="adj2" fmla="val 152964"/>
              </a:avLst>
            </a:prstGeom>
            <a:solidFill>
              <a:srgbClr val="FFFF00">
                <a:alpha val="56000"/>
              </a:srgb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Flèche droite rayée 33">
              <a:extLst>
                <a:ext uri="{FF2B5EF4-FFF2-40B4-BE49-F238E27FC236}">
                  <a16:creationId xmlns:a16="http://schemas.microsoft.com/office/drawing/2014/main" id="{C7951A54-FA43-BD4C-B435-689995F4CF79}"/>
                </a:ext>
              </a:extLst>
            </p:cNvPr>
            <p:cNvSpPr/>
            <p:nvPr/>
          </p:nvSpPr>
          <p:spPr>
            <a:xfrm rot="5400000">
              <a:off x="8294565" y="4728249"/>
              <a:ext cx="2325791" cy="265401"/>
            </a:xfrm>
            <a:prstGeom prst="stripedRightArrow">
              <a:avLst>
                <a:gd name="adj1" fmla="val 50000"/>
                <a:gd name="adj2" fmla="val 152964"/>
              </a:avLst>
            </a:prstGeom>
            <a:solidFill>
              <a:srgbClr val="FFFF00">
                <a:alpha val="56000"/>
              </a:srgb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Flèche droite rayée 34">
              <a:extLst>
                <a:ext uri="{FF2B5EF4-FFF2-40B4-BE49-F238E27FC236}">
                  <a16:creationId xmlns:a16="http://schemas.microsoft.com/office/drawing/2014/main" id="{0086A286-56E1-AB4E-B22F-CB062003CD8E}"/>
                </a:ext>
              </a:extLst>
            </p:cNvPr>
            <p:cNvSpPr/>
            <p:nvPr/>
          </p:nvSpPr>
          <p:spPr>
            <a:xfrm rot="16200000">
              <a:off x="10373238" y="4274152"/>
              <a:ext cx="3233986" cy="265401"/>
            </a:xfrm>
            <a:prstGeom prst="stripedRightArrow">
              <a:avLst>
                <a:gd name="adj1" fmla="val 50000"/>
                <a:gd name="adj2" fmla="val 152964"/>
              </a:avLst>
            </a:prstGeom>
            <a:solidFill>
              <a:srgbClr val="FFFF00">
                <a:alpha val="56000"/>
              </a:srgb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Flèche droite rayée 35">
              <a:extLst>
                <a:ext uri="{FF2B5EF4-FFF2-40B4-BE49-F238E27FC236}">
                  <a16:creationId xmlns:a16="http://schemas.microsoft.com/office/drawing/2014/main" id="{6DE22D46-6111-234F-9E15-8EBA2F031DF6}"/>
                </a:ext>
              </a:extLst>
            </p:cNvPr>
            <p:cNvSpPr/>
            <p:nvPr/>
          </p:nvSpPr>
          <p:spPr>
            <a:xfrm>
              <a:off x="2474212" y="5837685"/>
              <a:ext cx="1917464" cy="265401"/>
            </a:xfrm>
            <a:prstGeom prst="stripedRightArrow">
              <a:avLst>
                <a:gd name="adj1" fmla="val 50000"/>
                <a:gd name="adj2" fmla="val 53959"/>
              </a:avLst>
            </a:prstGeom>
            <a:solidFill>
              <a:srgbClr val="FFFF00">
                <a:alpha val="56000"/>
              </a:srgb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7" name="Flèche droite rayée 36">
              <a:extLst>
                <a:ext uri="{FF2B5EF4-FFF2-40B4-BE49-F238E27FC236}">
                  <a16:creationId xmlns:a16="http://schemas.microsoft.com/office/drawing/2014/main" id="{F8973D31-A9D2-F944-80E3-CCBAB1B1CDA0}"/>
                </a:ext>
              </a:extLst>
            </p:cNvPr>
            <p:cNvSpPr/>
            <p:nvPr/>
          </p:nvSpPr>
          <p:spPr>
            <a:xfrm>
              <a:off x="9862399" y="5749515"/>
              <a:ext cx="1917464" cy="265401"/>
            </a:xfrm>
            <a:prstGeom prst="stripedRightArrow">
              <a:avLst>
                <a:gd name="adj1" fmla="val 50000"/>
                <a:gd name="adj2" fmla="val 57920"/>
              </a:avLst>
            </a:prstGeom>
            <a:solidFill>
              <a:srgbClr val="FFFF00">
                <a:alpha val="56000"/>
              </a:srgb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Flèche droite rayée 37">
              <a:extLst>
                <a:ext uri="{FF2B5EF4-FFF2-40B4-BE49-F238E27FC236}">
                  <a16:creationId xmlns:a16="http://schemas.microsoft.com/office/drawing/2014/main" id="{C4022E5A-6E9F-E346-9D26-09A319A5B3FD}"/>
                </a:ext>
              </a:extLst>
            </p:cNvPr>
            <p:cNvSpPr/>
            <p:nvPr/>
          </p:nvSpPr>
          <p:spPr>
            <a:xfrm>
              <a:off x="6816815" y="5837685"/>
              <a:ext cx="474469" cy="265401"/>
            </a:xfrm>
            <a:prstGeom prst="stripedRightArrow">
              <a:avLst>
                <a:gd name="adj1" fmla="val 50000"/>
                <a:gd name="adj2" fmla="val 42079"/>
              </a:avLst>
            </a:prstGeom>
            <a:solidFill>
              <a:srgbClr val="FFFF00">
                <a:alpha val="56000"/>
              </a:srgb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Flèche droite rayée 38">
              <a:extLst>
                <a:ext uri="{FF2B5EF4-FFF2-40B4-BE49-F238E27FC236}">
                  <a16:creationId xmlns:a16="http://schemas.microsoft.com/office/drawing/2014/main" id="{8A963484-984B-6C45-B253-65524936345F}"/>
                </a:ext>
              </a:extLst>
            </p:cNvPr>
            <p:cNvSpPr/>
            <p:nvPr/>
          </p:nvSpPr>
          <p:spPr>
            <a:xfrm>
              <a:off x="5009982" y="3505713"/>
              <a:ext cx="1404858" cy="265401"/>
            </a:xfrm>
            <a:prstGeom prst="stripedRightArrow">
              <a:avLst>
                <a:gd name="adj1" fmla="val 50000"/>
                <a:gd name="adj2" fmla="val 53959"/>
              </a:avLst>
            </a:prstGeom>
            <a:solidFill>
              <a:srgbClr val="FFFF00">
                <a:alpha val="56000"/>
              </a:srgb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0" name="Flèche droite rayée 39">
              <a:extLst>
                <a:ext uri="{FF2B5EF4-FFF2-40B4-BE49-F238E27FC236}">
                  <a16:creationId xmlns:a16="http://schemas.microsoft.com/office/drawing/2014/main" id="{CEDA24F2-531C-5940-AFE3-5A9A02928DC8}"/>
                </a:ext>
              </a:extLst>
            </p:cNvPr>
            <p:cNvSpPr/>
            <p:nvPr/>
          </p:nvSpPr>
          <p:spPr>
            <a:xfrm>
              <a:off x="7769385" y="3483572"/>
              <a:ext cx="1404858" cy="265401"/>
            </a:xfrm>
            <a:prstGeom prst="stripedRightArrow">
              <a:avLst>
                <a:gd name="adj1" fmla="val 50000"/>
                <a:gd name="adj2" fmla="val 53959"/>
              </a:avLst>
            </a:prstGeom>
            <a:solidFill>
              <a:srgbClr val="FFFF00">
                <a:alpha val="56000"/>
              </a:srgb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976162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Le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Table de routage et protocoles</a:t>
            </a:r>
          </a:p>
          <a:p>
            <a:endParaRPr lang="fr-F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Sur Internet, le schéma est beaucoup plus complexe :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 nombre de réseau auxquels un routeur est connecté est généralement important.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Les réseaux auxquels le routeur est relié peuvent être reliés à d'autres réseaux que le routeur ne connaît pas directement.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Les routeurs fonctionnent grâce à :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 tables de routage.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 protocoles de routage.</a:t>
            </a:r>
          </a:p>
          <a:p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3955224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Table de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Définition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Une table de routage est un tableau qui contient des informations permettant au routeur d'envoyer le paquet de données vers le routeur suivant.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 tableau comporte 4 colonnes :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fr-FR" sz="24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réseau de destination 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 son masque.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L'interface réseau 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du routeur vers le réseau de destination.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Une métrique 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distance qui sépare deux routeurs.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Une passerelle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: adresse IP du routeur suivant vers le réseau de destination.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 distance (métrique) peut correspondre suivant le protocole :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 nombre de routeurs (sauts) entre deux routeurs (RIP).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 coup numérique des liaisons entre les deux routeurs (OSPF).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…</a:t>
            </a:r>
          </a:p>
          <a:p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3868219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Table de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Exemple</a:t>
            </a:r>
          </a:p>
          <a:p>
            <a:endParaRPr lang="fr-F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Table de routage du </a:t>
            </a:r>
            <a:r>
              <a:rPr lang="fr-FR" sz="24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routeur A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fr-FR" sz="24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RIP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:</a:t>
            </a:r>
          </a:p>
          <a:p>
            <a:endParaRPr lang="fr-FR" sz="2400" b="1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A5E28B86-167E-8D47-9727-7D40908C4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862205"/>
              </p:ext>
            </p:extLst>
          </p:nvPr>
        </p:nvGraphicFramePr>
        <p:xfrm>
          <a:off x="3042691" y="2314102"/>
          <a:ext cx="6473330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094144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6344413"/>
                    </a:ext>
                  </a:extLst>
                </a:gridCol>
                <a:gridCol w="1300858">
                  <a:extLst>
                    <a:ext uri="{9D8B030D-6E8A-4147-A177-3AD203B41FA5}">
                      <a16:colId xmlns:a16="http://schemas.microsoft.com/office/drawing/2014/main" val="3980670422"/>
                    </a:ext>
                  </a:extLst>
                </a:gridCol>
                <a:gridCol w="1108472">
                  <a:extLst>
                    <a:ext uri="{9D8B030D-6E8A-4147-A177-3AD203B41FA5}">
                      <a16:colId xmlns:a16="http://schemas.microsoft.com/office/drawing/2014/main" val="3421262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Réseau de 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Passerelle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Métrique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380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172.168.0.0 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eth0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22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192.168.7.0 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eth1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177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172.169.0.0 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17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10.0.0.0 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192.168.7.2 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eth1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656458"/>
                  </a:ext>
                </a:extLst>
              </a:tr>
            </a:tbl>
          </a:graphicData>
        </a:graphic>
      </p:graphicFrame>
      <p:grpSp>
        <p:nvGrpSpPr>
          <p:cNvPr id="9" name="Groupe 8">
            <a:extLst>
              <a:ext uri="{FF2B5EF4-FFF2-40B4-BE49-F238E27FC236}">
                <a16:creationId xmlns:a16="http://schemas.microsoft.com/office/drawing/2014/main" id="{E69C7265-31B2-FE4A-B1A5-1DAFEF79F5EC}"/>
              </a:ext>
            </a:extLst>
          </p:cNvPr>
          <p:cNvGrpSpPr/>
          <p:nvPr/>
        </p:nvGrpSpPr>
        <p:grpSpPr>
          <a:xfrm>
            <a:off x="2204749" y="4593656"/>
            <a:ext cx="7997161" cy="1666075"/>
            <a:chOff x="2204749" y="4593656"/>
            <a:chExt cx="7997161" cy="1666075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6573C655-4318-AC4B-8DDE-5C93A4EB4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rcRect/>
            <a:stretch/>
          </p:blipFill>
          <p:spPr>
            <a:xfrm>
              <a:off x="2204749" y="4593656"/>
              <a:ext cx="7997161" cy="1666075"/>
            </a:xfrm>
            <a:prstGeom prst="rect">
              <a:avLst/>
            </a:prstGeom>
          </p:spPr>
        </p:pic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784985BC-865A-ED48-AC94-5FA4C0D5599A}"/>
                </a:ext>
              </a:extLst>
            </p:cNvPr>
            <p:cNvSpPr/>
            <p:nvPr/>
          </p:nvSpPr>
          <p:spPr>
            <a:xfrm>
              <a:off x="4436239" y="5730115"/>
              <a:ext cx="996997" cy="408082"/>
            </a:xfrm>
            <a:prstGeom prst="ellipse">
              <a:avLst/>
            </a:prstGeom>
            <a:solidFill>
              <a:srgbClr val="00B0F0">
                <a:alpha val="50000"/>
              </a:srgb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385918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Table de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Exemple</a:t>
            </a:r>
          </a:p>
          <a:p>
            <a:endParaRPr lang="fr-F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Table de routage du </a:t>
            </a:r>
            <a:r>
              <a:rPr lang="fr-FR" sz="24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routeur G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fr-FR" sz="24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RIP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:</a:t>
            </a:r>
          </a:p>
          <a:p>
            <a:endParaRPr lang="fr-FR" sz="2400" b="1" dirty="0"/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A5E28B86-167E-8D47-9727-7D40908C4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663043"/>
              </p:ext>
            </p:extLst>
          </p:nvPr>
        </p:nvGraphicFramePr>
        <p:xfrm>
          <a:off x="2888562" y="2238284"/>
          <a:ext cx="6473330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094144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6344413"/>
                    </a:ext>
                  </a:extLst>
                </a:gridCol>
                <a:gridCol w="1300858">
                  <a:extLst>
                    <a:ext uri="{9D8B030D-6E8A-4147-A177-3AD203B41FA5}">
                      <a16:colId xmlns:a16="http://schemas.microsoft.com/office/drawing/2014/main" val="3980670422"/>
                    </a:ext>
                  </a:extLst>
                </a:gridCol>
                <a:gridCol w="1108472">
                  <a:extLst>
                    <a:ext uri="{9D8B030D-6E8A-4147-A177-3AD203B41FA5}">
                      <a16:colId xmlns:a16="http://schemas.microsoft.com/office/drawing/2014/main" val="3421262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Réseau de 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Passerelle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Métrique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380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10.0.0.0 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eth0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22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192.168.7.0 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eth1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177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172.168.0.0 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192.168.7.1 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eth1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17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172.169.0.0 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192.168.7.1 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eth1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656458"/>
                  </a:ext>
                </a:extLst>
              </a:tr>
            </a:tbl>
          </a:graphicData>
        </a:graphic>
      </p:graphicFrame>
      <p:grpSp>
        <p:nvGrpSpPr>
          <p:cNvPr id="13" name="Groupe 12">
            <a:extLst>
              <a:ext uri="{FF2B5EF4-FFF2-40B4-BE49-F238E27FC236}">
                <a16:creationId xmlns:a16="http://schemas.microsoft.com/office/drawing/2014/main" id="{66E6DE4A-1909-6D40-84B6-48872B8F55AD}"/>
              </a:ext>
            </a:extLst>
          </p:cNvPr>
          <p:cNvGrpSpPr/>
          <p:nvPr/>
        </p:nvGrpSpPr>
        <p:grpSpPr>
          <a:xfrm>
            <a:off x="2204749" y="4396363"/>
            <a:ext cx="7997161" cy="1927654"/>
            <a:chOff x="2204749" y="4462867"/>
            <a:chExt cx="7997161" cy="1927654"/>
          </a:xfrm>
        </p:grpSpPr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6573C655-4318-AC4B-8DDE-5C93A4EB4B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04749" y="4462867"/>
              <a:ext cx="7997161" cy="1927654"/>
            </a:xfrm>
            <a:prstGeom prst="rect">
              <a:avLst/>
            </a:prstGeom>
          </p:spPr>
        </p:pic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8CB91406-20E6-D848-BB7B-88CBE4A1CF5D}"/>
                </a:ext>
              </a:extLst>
            </p:cNvPr>
            <p:cNvSpPr/>
            <p:nvPr/>
          </p:nvSpPr>
          <p:spPr>
            <a:xfrm>
              <a:off x="7275132" y="5782101"/>
              <a:ext cx="1230915" cy="408082"/>
            </a:xfrm>
            <a:prstGeom prst="ellipse">
              <a:avLst/>
            </a:prstGeom>
            <a:solidFill>
              <a:srgbClr val="00B0F0">
                <a:alpha val="50000"/>
              </a:srgb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491166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Table de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Remplissage de la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Une table de routage peut contenir des centaines, voire des milliers de lignes pour les réseaux importants.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 peut exister plusieurs routes pour rejoindre une destination : le routeur choisit celle avec la métrique la plus faible.</a:t>
            </a:r>
          </a:p>
          <a:p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 routeur remplit sa table de routage :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Facilement pour les réseaux qui sont directement reliés (métrique = 0).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Grâce à des protocoles qui vont découvrir automatiquement les différentes routes (routage dynamique).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 routeur ne peut pas connaitre TOUTES LES ROUTES : il possède une route par DEFAUT (</a:t>
            </a:r>
            <a:r>
              <a:rPr lang="fr-FR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default ou 0.0.0.0/0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).</a:t>
            </a:r>
          </a:p>
          <a:p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2520585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Table de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Mise en pratique</a:t>
            </a:r>
          </a:p>
          <a:p>
            <a:endParaRPr lang="fr-F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Tous les routeurs possèdent une table de routage et une passerelle par défaut.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Tous les ordinateurs possèdent une table de routage et une passerelle par défaut.</a:t>
            </a:r>
          </a:p>
          <a:p>
            <a:endParaRPr lang="fr-FR" sz="2400" b="1" dirty="0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3AB60C16-1145-954D-B62F-AEA233D56965}"/>
              </a:ext>
            </a:extLst>
          </p:cNvPr>
          <p:cNvGrpSpPr/>
          <p:nvPr/>
        </p:nvGrpSpPr>
        <p:grpSpPr>
          <a:xfrm>
            <a:off x="1504709" y="2973293"/>
            <a:ext cx="8704162" cy="3277036"/>
            <a:chOff x="1504709" y="2822822"/>
            <a:chExt cx="8704162" cy="3277036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355A7BA4-AFF2-824C-B2FD-CC52392174E8}"/>
                </a:ext>
              </a:extLst>
            </p:cNvPr>
            <p:cNvGrpSpPr/>
            <p:nvPr/>
          </p:nvGrpSpPr>
          <p:grpSpPr>
            <a:xfrm>
              <a:off x="1504709" y="2822822"/>
              <a:ext cx="8704162" cy="3277036"/>
              <a:chOff x="1504709" y="2822822"/>
              <a:chExt cx="8704162" cy="3277036"/>
            </a:xfrm>
          </p:grpSpPr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47645C6A-2E24-2D47-BCC2-9CD60A4C14A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488765" y="2822822"/>
                <a:ext cx="7480300" cy="3277036"/>
              </a:xfrm>
              <a:prstGeom prst="rect">
                <a:avLst/>
              </a:prstGeom>
            </p:spPr>
          </p:pic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63DD4FAB-4B0B-0A47-A55C-56CBD8A11E64}"/>
                  </a:ext>
                </a:extLst>
              </p:cNvPr>
              <p:cNvSpPr/>
              <p:nvPr/>
            </p:nvSpPr>
            <p:spPr>
              <a:xfrm>
                <a:off x="1504709" y="4109013"/>
                <a:ext cx="8704162" cy="28347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D49BDEDD-4F58-6A41-9564-A71C3DA762CA}"/>
                </a:ext>
              </a:extLst>
            </p:cNvPr>
            <p:cNvSpPr/>
            <p:nvPr/>
          </p:nvSpPr>
          <p:spPr>
            <a:xfrm>
              <a:off x="5185458" y="3000966"/>
              <a:ext cx="1678329" cy="428034"/>
            </a:xfrm>
            <a:prstGeom prst="ellipse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84134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Protocole de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Définition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 existe plusieurs protocoles de routage permettant de trouver une route entre deux routeurs.</a:t>
            </a:r>
          </a:p>
          <a:p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 peut modéliser un réseau avec un </a:t>
            </a:r>
            <a:r>
              <a:rPr lang="fr-FR" sz="24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graphe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: 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Chaque sommet est un routeur.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Chaque arête est une liaison entre les routeurs ou entre un routeur et un switch. 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 poids des arêtes peut être le débit (Mbps, </a:t>
            </a:r>
            <a:r>
              <a:rPr lang="fr-FR" sz="2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Gbps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), …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Les algorithmes utilisés sont issus de la théorie de graphes : 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 protocole RIP (</a:t>
            </a:r>
            <a:r>
              <a:rPr lang="fr-FR" sz="2400" i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Routing</a:t>
            </a:r>
            <a:r>
              <a:rPr lang="fr-FR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Information Protocol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 protocole OSPF (</a:t>
            </a:r>
            <a:r>
              <a:rPr lang="fr-FR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Open </a:t>
            </a:r>
            <a:r>
              <a:rPr lang="fr-FR" sz="2400" i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</a:t>
            </a:r>
            <a:r>
              <a:rPr lang="fr-FR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Path First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…</a:t>
            </a:r>
          </a:p>
          <a:p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864870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Protocole de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Caractéristiques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 protocole </a:t>
            </a:r>
            <a:r>
              <a:rPr lang="fr-FR" sz="24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RIP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est un protocole à </a:t>
            </a:r>
            <a:r>
              <a:rPr lang="fr-FR" sz="24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vecteur de distance 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chaque routeur n'a des informations que sur les routeurs voisins.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 utilise l'algorithme de Bellman-Ford qui calcule 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les plus courts chemins depuis un sommet source 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donné dans un graphe orienté pondéré.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C'est un protocole peu gourmand en ressources matérielles.</a:t>
            </a:r>
          </a:p>
          <a:p>
            <a:endParaRPr lang="fr-FR" sz="24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4F479C2-0EA0-E242-94F0-FA0E4D7457E4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309847" y="2260037"/>
            <a:ext cx="1634253" cy="166369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9D5EF96-1A7A-E54D-B057-040809507EE6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180320" y="2260037"/>
            <a:ext cx="12192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3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Protocole de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Caractéristiques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 protocole </a:t>
            </a:r>
            <a:r>
              <a:rPr lang="fr-FR" sz="24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OSPF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est un protocole à état de lien : chaque routeur connait la cartographie du réseau.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Chaque routeur envoie sa table de routage à ses voisins qui la transmette à leurs propres voisins.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Ils utilisent l'algorithme de </a:t>
            </a:r>
            <a:r>
              <a:rPr lang="fr-FR" sz="2400" dirty="0" err="1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Dijkstra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fr-FR" sz="2400" i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</a:t>
            </a:r>
            <a:r>
              <a:rPr lang="fr-FR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Path First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ou </a:t>
            </a:r>
            <a:r>
              <a:rPr lang="fr-FR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SPF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pour trouver le chemin le plus court.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C'est un protocole gourmand en ressources matérielles.</a:t>
            </a:r>
          </a:p>
          <a:p>
            <a:endParaRPr lang="fr-FR" sz="24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C5EE71F-5DE7-3346-9F89-2CD934653F3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320020" y="3461084"/>
            <a:ext cx="12319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11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Protocole de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Protocole RIP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 protocole se base sur le </a:t>
            </a:r>
            <a:r>
              <a:rPr lang="fr-FR" sz="24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nombre de saut 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chaque routeur communique aux autres routeurs le nombre de routeurs qui les sépare.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Lorsqu'un routeur reçoit un message du protocole (toutes les 30 secondes), il </a:t>
            </a:r>
            <a:r>
              <a:rPr lang="fr-FR" sz="24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incrémente la métrique de 1 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 communique le message aux routeurs directement accessibles.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Les routeurs mettent à jour alors le nombre de saut pour que celui-ci soit minimal.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 protocole a </a:t>
            </a:r>
            <a:r>
              <a:rPr lang="fr-FR" sz="2400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trois inconvénients majeurs 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 ne tient pas compte de la vitesse (débit) de la liaison.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Les messages du protocoles encombrent le réseau.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 est limité à 15 sauts, donc fait pour les petits réseaux.</a:t>
            </a:r>
          </a:p>
          <a:p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2402814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Protocole de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Protocole RIP : Exemple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Table de routage du </a:t>
            </a:r>
            <a:r>
              <a:rPr lang="fr-FR" sz="24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routeur A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(sans la passerelle) :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Chemin pour aller de </a:t>
            </a:r>
            <a:r>
              <a:rPr lang="fr-FR" sz="2400" dirty="0">
                <a:solidFill>
                  <a:srgbClr val="92D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172.18.1.5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à </a:t>
            </a:r>
            <a:r>
              <a:rPr lang="fr-FR" sz="2400" dirty="0">
                <a:solidFill>
                  <a:srgbClr val="00B0F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172.16.1.128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: A --&gt; B</a:t>
            </a:r>
          </a:p>
          <a:p>
            <a:endParaRPr lang="fr-FR" sz="2400" b="1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D1FC1CFE-7E8B-934B-A1DD-24257CA3B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38089"/>
              </p:ext>
            </p:extLst>
          </p:nvPr>
        </p:nvGraphicFramePr>
        <p:xfrm>
          <a:off x="255334" y="1898681"/>
          <a:ext cx="3266341" cy="2682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69346">
                  <a:extLst>
                    <a:ext uri="{9D8B030D-6E8A-4147-A177-3AD203B41FA5}">
                      <a16:colId xmlns:a16="http://schemas.microsoft.com/office/drawing/2014/main" val="1609414416"/>
                    </a:ext>
                  </a:extLst>
                </a:gridCol>
                <a:gridCol w="794952">
                  <a:extLst>
                    <a:ext uri="{9D8B030D-6E8A-4147-A177-3AD203B41FA5}">
                      <a16:colId xmlns:a16="http://schemas.microsoft.com/office/drawing/2014/main" val="3980670422"/>
                    </a:ext>
                  </a:extLst>
                </a:gridCol>
                <a:gridCol w="902043">
                  <a:extLst>
                    <a:ext uri="{9D8B030D-6E8A-4147-A177-3AD203B41FA5}">
                      <a16:colId xmlns:a16="http://schemas.microsoft.com/office/drawing/2014/main" val="3421262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Réseau de 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Métrique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380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172.18.0.0 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eth0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22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192.168.1.0 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eth1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177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192.168.2.0 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17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172.16.0.0 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eth1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65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172.17.0.0 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06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172.16.0.0 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853355"/>
                  </a:ext>
                </a:extLst>
              </a:tr>
            </a:tbl>
          </a:graphicData>
        </a:graphic>
      </p:graphicFrame>
      <p:grpSp>
        <p:nvGrpSpPr>
          <p:cNvPr id="9" name="Groupe 8">
            <a:extLst>
              <a:ext uri="{FF2B5EF4-FFF2-40B4-BE49-F238E27FC236}">
                <a16:creationId xmlns:a16="http://schemas.microsoft.com/office/drawing/2014/main" id="{ACD1298C-E0E1-7C40-A225-D0946D6B0A01}"/>
              </a:ext>
            </a:extLst>
          </p:cNvPr>
          <p:cNvGrpSpPr/>
          <p:nvPr/>
        </p:nvGrpSpPr>
        <p:grpSpPr>
          <a:xfrm>
            <a:off x="3727049" y="1898681"/>
            <a:ext cx="7968958" cy="3886978"/>
            <a:chOff x="3727049" y="1898680"/>
            <a:chExt cx="8234332" cy="4137995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EFE170D4-DB8B-C64B-8022-2100271AC34B}"/>
                </a:ext>
              </a:extLst>
            </p:cNvPr>
            <p:cNvGrpSpPr/>
            <p:nvPr/>
          </p:nvGrpSpPr>
          <p:grpSpPr>
            <a:xfrm>
              <a:off x="3727049" y="1898680"/>
              <a:ext cx="8234332" cy="4137995"/>
              <a:chOff x="3727049" y="1898680"/>
              <a:chExt cx="8234332" cy="4137995"/>
            </a:xfrm>
          </p:grpSpPr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F2DCC092-C7EC-2647-9570-7C76118A36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727049" y="1898680"/>
                <a:ext cx="8234332" cy="4137995"/>
              </a:xfrm>
              <a:prstGeom prst="rect">
                <a:avLst/>
              </a:prstGeom>
            </p:spPr>
          </p:pic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C8E2D86C-B50C-BA43-89E9-5A17D3D6E7B1}"/>
                  </a:ext>
                </a:extLst>
              </p:cNvPr>
              <p:cNvSpPr/>
              <p:nvPr/>
            </p:nvSpPr>
            <p:spPr>
              <a:xfrm>
                <a:off x="3727049" y="3077373"/>
                <a:ext cx="914400" cy="939042"/>
              </a:xfrm>
              <a:prstGeom prst="ellipse">
                <a:avLst/>
              </a:prstGeom>
              <a:solidFill>
                <a:srgbClr val="92D050">
                  <a:alpha val="55000"/>
                </a:srgbClr>
              </a:solidFill>
              <a:ln w="28575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C32A963D-1FD2-A44E-A0E2-8BC1E4B8F6EB}"/>
                  </a:ext>
                </a:extLst>
              </p:cNvPr>
              <p:cNvSpPr/>
              <p:nvPr/>
            </p:nvSpPr>
            <p:spPr>
              <a:xfrm>
                <a:off x="10884161" y="2959479"/>
                <a:ext cx="914400" cy="939042"/>
              </a:xfrm>
              <a:prstGeom prst="ellipse">
                <a:avLst/>
              </a:prstGeom>
              <a:solidFill>
                <a:srgbClr val="00B0F0">
                  <a:alpha val="55000"/>
                </a:srgbClr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575AB8CB-EDF3-9440-868B-66404C7677D4}"/>
                </a:ext>
              </a:extLst>
            </p:cNvPr>
            <p:cNvSpPr/>
            <p:nvPr/>
          </p:nvSpPr>
          <p:spPr>
            <a:xfrm>
              <a:off x="5837201" y="2490764"/>
              <a:ext cx="914400" cy="939042"/>
            </a:xfrm>
            <a:prstGeom prst="ellipse">
              <a:avLst/>
            </a:prstGeom>
            <a:solidFill>
              <a:srgbClr val="AD4FF8">
                <a:alpha val="55000"/>
              </a:srgbClr>
            </a:solidFill>
            <a:ln w="28575">
              <a:solidFill>
                <a:srgbClr val="AD4F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812232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Protocole de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12942" y="999235"/>
                <a:ext cx="11824570" cy="4592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b="1" dirty="0">
                    <a:solidFill>
                      <a:schemeClr val="tx1"/>
                    </a:solidFill>
                  </a:rPr>
                  <a:t>Protocole OSPF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2400" dirty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Ce protocole se base sur le débit de la liaison qui sépare deux routeurs et calcule le coût numérique avec comme </a:t>
                </a:r>
                <a:r>
                  <a:rPr lang="fr-FR" sz="2400" dirty="0">
                    <a:solidFill>
                      <a:srgbClr val="0070C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référence </a:t>
                </a:r>
                <a14:m>
                  <m:oMath xmlns:m="http://schemas.openxmlformats.org/officeDocument/2006/math">
                    <m:r>
                      <a:rPr lang="fr-FR" sz="24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100 </m:t>
                    </m:r>
                    <m:r>
                      <a:rPr lang="fr-FR" sz="24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𝑀𝑏𝑖𝑡</m:t>
                    </m:r>
                    <m:r>
                      <a:rPr lang="fr-FR" sz="24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.</m:t>
                    </m:r>
                    <m:sSup>
                      <m:sSupPr>
                        <m:ctrlPr>
                          <a:rPr lang="fr-FR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fr-FR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𝑠</m:t>
                        </m:r>
                      </m:e>
                      <m:sup>
                        <m:r>
                          <a:rPr lang="fr-FR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sz="2400" dirty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:</a:t>
                </a:r>
              </a:p>
              <a:p>
                <a:endParaRPr lang="fr-FR" sz="2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𝑐𝑜</m:t>
                      </m:r>
                      <m:r>
                        <a:rPr lang="fr-F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û</m:t>
                      </m:r>
                      <m:r>
                        <a:rPr lang="fr-F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𝑡</m:t>
                      </m:r>
                      <m:r>
                        <a:rPr lang="fr-F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= </m:t>
                      </m:r>
                      <m:f>
                        <m:fPr>
                          <m:ctrlPr>
                            <a:rPr lang="fr-F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r>
                            <a:rPr lang="fr-F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𝑑</m:t>
                          </m:r>
                          <m:r>
                            <a:rPr lang="fr-F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é</m:t>
                          </m:r>
                          <m:r>
                            <a:rPr lang="fr-F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𝑏𝑖𝑡</m:t>
                          </m:r>
                          <m:r>
                            <a:rPr lang="fr-F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 (</m:t>
                          </m:r>
                          <m:r>
                            <a:rPr lang="fr-F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𝑏𝑖𝑡</m:t>
                          </m:r>
                          <m:r>
                            <a:rPr lang="fr-F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fr-FR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fr-FR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fr-F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sz="2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endParaRPr lang="fr-FR" sz="2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2400" dirty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Pour obtenir la métrique d'une route, on additionne les coûts de chaque liaison. </a:t>
                </a:r>
              </a:p>
              <a:p>
                <a:endParaRPr lang="fr-FR" sz="2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2400" dirty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Le protocole OSPF permet de réduire l'encombrement du réseau et remplace le protocole RIP petit à petit.</a:t>
                </a:r>
              </a:p>
              <a:p>
                <a:endParaRPr lang="fr-FR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212942" y="999235"/>
                <a:ext cx="11824570" cy="4592283"/>
              </a:xfrm>
              <a:prstGeom prst="rect">
                <a:avLst/>
              </a:prstGeom>
              <a:blipFill>
                <a:blip r:embed="rId7" cstate="print"/>
                <a:stretch>
                  <a:fillRect l="-825" t="-1062" r="-10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787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52D0788-6B20-48EB-9EDB-CFD5157D5195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366713" y="136525"/>
            <a:ext cx="11825287" cy="790575"/>
          </a:xfrm>
        </p:spPr>
        <p:txBody>
          <a:bodyPr/>
          <a:lstStyle/>
          <a:p>
            <a:r>
              <a:rPr lang="fr-FR" dirty="0"/>
              <a:t>Protocole de Routage</a:t>
            </a:r>
          </a:p>
        </p:txBody>
      </p:sp>
      <p:cxnSp>
        <p:nvCxnSpPr>
          <p:cNvPr id="6" name="Connecteur droit 5"/>
          <p:cNvCxnSpPr/>
          <p:nvPr>
            <p:custDataLst>
              <p:tags r:id="rId3"/>
            </p:custDataLst>
          </p:nvPr>
        </p:nvCxnSpPr>
        <p:spPr>
          <a:xfrm>
            <a:off x="212942" y="951978"/>
            <a:ext cx="118245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>
            <p:custDataLst>
              <p:tags r:id="rId4"/>
            </p:custDataLst>
          </p:nvPr>
        </p:nvSpPr>
        <p:spPr>
          <a:xfrm>
            <a:off x="212942" y="999235"/>
            <a:ext cx="118245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Protocole OSPF : Exemple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Table de routage du </a:t>
            </a:r>
            <a:r>
              <a:rPr lang="fr-FR" sz="2400" dirty="0">
                <a:solidFill>
                  <a:srgbClr val="7030A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routeur A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(sans la passerelle) :</a:t>
            </a: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Chemin pour aller de </a:t>
            </a:r>
            <a:r>
              <a:rPr lang="fr-FR" sz="2400" dirty="0">
                <a:solidFill>
                  <a:srgbClr val="92D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172.18.1.5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à </a:t>
            </a:r>
            <a:r>
              <a:rPr lang="fr-FR" sz="2400" dirty="0">
                <a:solidFill>
                  <a:srgbClr val="00B0F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172.16.1.128</a:t>
            </a:r>
            <a:r>
              <a:rPr lang="fr-FR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: A --&gt; C -- &gt; B</a:t>
            </a:r>
          </a:p>
          <a:p>
            <a:endParaRPr lang="fr-FR" sz="2400" b="1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D1FC1CFE-7E8B-934B-A1DD-24257CA3B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679763"/>
              </p:ext>
            </p:extLst>
          </p:nvPr>
        </p:nvGraphicFramePr>
        <p:xfrm>
          <a:off x="255334" y="1898681"/>
          <a:ext cx="3266341" cy="2682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69346">
                  <a:extLst>
                    <a:ext uri="{9D8B030D-6E8A-4147-A177-3AD203B41FA5}">
                      <a16:colId xmlns:a16="http://schemas.microsoft.com/office/drawing/2014/main" val="1609414416"/>
                    </a:ext>
                  </a:extLst>
                </a:gridCol>
                <a:gridCol w="794952">
                  <a:extLst>
                    <a:ext uri="{9D8B030D-6E8A-4147-A177-3AD203B41FA5}">
                      <a16:colId xmlns:a16="http://schemas.microsoft.com/office/drawing/2014/main" val="3980670422"/>
                    </a:ext>
                  </a:extLst>
                </a:gridCol>
                <a:gridCol w="902043">
                  <a:extLst>
                    <a:ext uri="{9D8B030D-6E8A-4147-A177-3AD203B41FA5}">
                      <a16:colId xmlns:a16="http://schemas.microsoft.com/office/drawing/2014/main" val="3421262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Réseau de 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Métrique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380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172.18.0.0 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eth0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22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192.168.1.0 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eth1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177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192.168.2.0 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17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172.16.0.0 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eth1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65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172.17.0.0 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06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172.16.0.0 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853355"/>
                  </a:ext>
                </a:extLst>
              </a:tr>
            </a:tbl>
          </a:graphicData>
        </a:graphic>
      </p:graphicFrame>
      <p:grpSp>
        <p:nvGrpSpPr>
          <p:cNvPr id="9" name="Groupe 8">
            <a:extLst>
              <a:ext uri="{FF2B5EF4-FFF2-40B4-BE49-F238E27FC236}">
                <a16:creationId xmlns:a16="http://schemas.microsoft.com/office/drawing/2014/main" id="{ACD1298C-E0E1-7C40-A225-D0946D6B0A01}"/>
              </a:ext>
            </a:extLst>
          </p:cNvPr>
          <p:cNvGrpSpPr/>
          <p:nvPr/>
        </p:nvGrpSpPr>
        <p:grpSpPr>
          <a:xfrm>
            <a:off x="3727049" y="1898681"/>
            <a:ext cx="7968958" cy="3886978"/>
            <a:chOff x="3727049" y="1898680"/>
            <a:chExt cx="8234332" cy="4137995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EFE170D4-DB8B-C64B-8022-2100271AC34B}"/>
                </a:ext>
              </a:extLst>
            </p:cNvPr>
            <p:cNvGrpSpPr/>
            <p:nvPr/>
          </p:nvGrpSpPr>
          <p:grpSpPr>
            <a:xfrm>
              <a:off x="3727049" y="1898680"/>
              <a:ext cx="8234332" cy="4137995"/>
              <a:chOff x="3727049" y="1898680"/>
              <a:chExt cx="8234332" cy="4137995"/>
            </a:xfrm>
          </p:grpSpPr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F2DCC092-C7EC-2647-9570-7C76118A36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727049" y="1898680"/>
                <a:ext cx="8234332" cy="4137995"/>
              </a:xfrm>
              <a:prstGeom prst="rect">
                <a:avLst/>
              </a:prstGeom>
            </p:spPr>
          </p:pic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C8E2D86C-B50C-BA43-89E9-5A17D3D6E7B1}"/>
                  </a:ext>
                </a:extLst>
              </p:cNvPr>
              <p:cNvSpPr/>
              <p:nvPr/>
            </p:nvSpPr>
            <p:spPr>
              <a:xfrm>
                <a:off x="3727049" y="3077373"/>
                <a:ext cx="914400" cy="939042"/>
              </a:xfrm>
              <a:prstGeom prst="ellipse">
                <a:avLst/>
              </a:prstGeom>
              <a:solidFill>
                <a:srgbClr val="92D050">
                  <a:alpha val="55000"/>
                </a:srgbClr>
              </a:solidFill>
              <a:ln w="28575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C32A963D-1FD2-A44E-A0E2-8BC1E4B8F6EB}"/>
                  </a:ext>
                </a:extLst>
              </p:cNvPr>
              <p:cNvSpPr/>
              <p:nvPr/>
            </p:nvSpPr>
            <p:spPr>
              <a:xfrm>
                <a:off x="10884161" y="2959479"/>
                <a:ext cx="914400" cy="939042"/>
              </a:xfrm>
              <a:prstGeom prst="ellipse">
                <a:avLst/>
              </a:prstGeom>
              <a:solidFill>
                <a:srgbClr val="00B0F0">
                  <a:alpha val="55000"/>
                </a:srgbClr>
              </a:solidFill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575AB8CB-EDF3-9440-868B-66404C7677D4}"/>
                </a:ext>
              </a:extLst>
            </p:cNvPr>
            <p:cNvSpPr/>
            <p:nvPr/>
          </p:nvSpPr>
          <p:spPr>
            <a:xfrm>
              <a:off x="5837201" y="2490764"/>
              <a:ext cx="914400" cy="939042"/>
            </a:xfrm>
            <a:prstGeom prst="ellipse">
              <a:avLst/>
            </a:prstGeom>
            <a:solidFill>
              <a:srgbClr val="AD4FF8">
                <a:alpha val="55000"/>
              </a:srgbClr>
            </a:solidFill>
            <a:ln w="28575">
              <a:solidFill>
                <a:srgbClr val="AD4F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1033469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1253</TotalTime>
  <Words>1619</Words>
  <Application>Microsoft Office PowerPoint</Application>
  <PresentationFormat>Grand écran</PresentationFormat>
  <Paragraphs>349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Courier New</vt:lpstr>
      <vt:lpstr>Helvetica Neue</vt:lpstr>
      <vt:lpstr>Monaco</vt:lpstr>
      <vt:lpstr>Rétrospective</vt:lpstr>
      <vt:lpstr>Protocoles de routages</vt:lpstr>
      <vt:lpstr>Rappels de première</vt:lpstr>
      <vt:lpstr>Rappels de première</vt:lpstr>
      <vt:lpstr>Rappels de première</vt:lpstr>
      <vt:lpstr>Rappels de première</vt:lpstr>
      <vt:lpstr>Rappels de première</vt:lpstr>
      <vt:lpstr>Le Routage</vt:lpstr>
      <vt:lpstr>Le Routage</vt:lpstr>
      <vt:lpstr>Le Routage</vt:lpstr>
      <vt:lpstr>Le Routage</vt:lpstr>
      <vt:lpstr>Le Routage</vt:lpstr>
      <vt:lpstr>Le Routage</vt:lpstr>
      <vt:lpstr>Le Routage</vt:lpstr>
      <vt:lpstr>Table de Routage</vt:lpstr>
      <vt:lpstr>Table de Routage</vt:lpstr>
      <vt:lpstr>Table de Routage</vt:lpstr>
      <vt:lpstr>Table de Routage</vt:lpstr>
      <vt:lpstr>Table de Routage</vt:lpstr>
      <vt:lpstr>Protocole de Routage</vt:lpstr>
      <vt:lpstr>Protocole de Routage</vt:lpstr>
      <vt:lpstr>Protocole de Routage</vt:lpstr>
      <vt:lpstr>Protocole de Routage</vt:lpstr>
      <vt:lpstr>Protocole de Routage</vt:lpstr>
      <vt:lpstr>Protocole de Routage</vt:lpstr>
      <vt:lpstr>Protocole de Routage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S1 : Introduction à Python</dc:title>
  <dc:creator>Cédric ENCLOS</dc:creator>
  <cp:lastModifiedBy>alexandre.maiemery</cp:lastModifiedBy>
  <cp:revision>112</cp:revision>
  <dcterms:created xsi:type="dcterms:W3CDTF">2020-09-11T09:36:32Z</dcterms:created>
  <dcterms:modified xsi:type="dcterms:W3CDTF">2025-11-26T11:06:02Z</dcterms:modified>
</cp:coreProperties>
</file>